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84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97845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A66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A66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54864" cy="2926080"/>
          </a:xfrm>
          <a:prstGeom prst="rect">
            <a:avLst/>
          </a:prstGeom>
          <a:solidFill>
            <a:srgbClr val="0A66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68680" y="1097280"/>
            <a:ext cx="2377440" cy="365760"/>
          </a:xfrm>
          <a:prstGeom prst="roundRect">
            <a:avLst>
              <a:gd name="adj" fmla="val 20000"/>
            </a:avLst>
          </a:prstGeom>
          <a:solidFill>
            <a:srgbClr val="0A66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10972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PRODUCT MANAGEMENT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164592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LinkedIn Learning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868680" y="24688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B8F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Closing the Skills-to-Career Gap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68680" y="3108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Presentation  •  Spring 2026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68680" y="3749040"/>
            <a:ext cx="4572000" cy="9144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3840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MEMBERS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68680" y="4114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 Dy  •  Tung Le  •  Parikshit Ambhore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132320" y="1645920"/>
            <a:ext cx="1463040" cy="1463040"/>
          </a:xfrm>
          <a:prstGeom prst="ellipse">
            <a:avLst/>
          </a:prstGeom>
          <a:solidFill>
            <a:srgbClr val="0A66C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132320" y="1645920"/>
            <a:ext cx="1463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</a:t>
            </a:r>
            <a:endParaRPr lang="en-US" sz="4800" dirty="0"/>
          </a:p>
        </p:txBody>
      </p:sp>
      <p:sp>
        <p:nvSpPr>
          <p:cNvPr id="15" name="Shape 13"/>
          <p:cNvSpPr/>
          <p:nvPr/>
        </p:nvSpPr>
        <p:spPr>
          <a:xfrm>
            <a:off x="6583680" y="3383280"/>
            <a:ext cx="2103120" cy="1188720"/>
          </a:xfrm>
          <a:prstGeom prst="roundRect">
            <a:avLst>
              <a:gd name="adj" fmla="val 7692"/>
            </a:avLst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583680" y="342900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2EA1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87%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583680" y="39776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Match Score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A66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A6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Awareness &amp; Validity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4114800" cy="3200400"/>
          </a:xfrm>
          <a:prstGeom prst="roundRect">
            <a:avLst>
              <a:gd name="adj" fmla="val 2857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4114800" cy="45720"/>
          </a:xfrm>
          <a:prstGeom prst="rect">
            <a:avLst/>
          </a:prstGeom>
          <a:solidFill>
            <a:srgbClr val="1B8F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7724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LinkedIn Learning?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19659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platform on LinkedIn for learning new skills — courses taught by industry professionals, with certifications shareable on your profile.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2926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C1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IT'S BURIED: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320040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Search "LI Learning"</a:t>
            </a:r>
            <a:endParaRPr lang="en-US" sz="11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Click "LI Learning Page"</a:t>
            </a:r>
            <a:endParaRPr lang="en-US" sz="11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Visit website in new tab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Finally access the product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937760" y="146304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937760" y="1463040"/>
            <a:ext cx="54864" cy="1508760"/>
          </a:xfrm>
          <a:prstGeom prst="rect">
            <a:avLst/>
          </a:prstGeom>
          <a:solidFill>
            <a:srgbClr val="CC10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166360" y="1554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C1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#1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16636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Awareness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166360" y="22402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LinkedIn power users don't know LI Learning exists or how to find it.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937760" y="315468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937760" y="3154680"/>
            <a:ext cx="54864" cy="1508760"/>
          </a:xfrm>
          <a:prstGeom prst="rect">
            <a:avLst/>
          </a:prstGeom>
          <a:solidFill>
            <a:srgbClr val="E89F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166360" y="3246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E89F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#2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166360" y="3520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Perceived No Value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166360" y="39319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users who are aware, courses feel generic — no clear connection to their career goals.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Learning  •  Tech Product Management  •  2/12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A66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A6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HYPOTHESIS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we personalize, engagement will follow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8046720" cy="1463040"/>
          </a:xfrm>
          <a:prstGeom prst="roundRect">
            <a:avLst>
              <a:gd name="adj" fmla="val 6250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8046720" cy="45720"/>
          </a:xfrm>
          <a:prstGeom prst="rect">
            <a:avLst/>
          </a:prstGeom>
          <a:solidFill>
            <a:srgbClr val="0A66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7724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A6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HYPOTHESIS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187452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9D1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we </a:t>
            </a:r>
            <a:r>
              <a:rPr lang="en-US" sz="18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make LinkedIn Learning visible on the home page </a:t>
            </a:r>
            <a:r>
              <a:rPr lang="en-US" sz="1800" i="1" dirty="0">
                <a:solidFill>
                  <a:srgbClr val="C9D1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</a:t>
            </a:r>
            <a:r>
              <a:rPr lang="en-US" sz="18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personalize course recommendations to job-skill gaps</a:t>
            </a:r>
            <a:r>
              <a:rPr lang="en-US" sz="1800" i="1" dirty="0">
                <a:solidFill>
                  <a:srgbClr val="C9D1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then user awareness and engagement with LI Learning will significantly increase.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108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we'll measure: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52044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31520" y="3657600"/>
            <a:ext cx="457200" cy="457200"/>
          </a:xfrm>
          <a:prstGeom prst="ellipse">
            <a:avLst/>
          </a:prstGeom>
          <a:solidFill>
            <a:srgbClr val="0A66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31520" y="3657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👁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25880" y="3657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4206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widget CTR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promo engagement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337560" y="352044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520440" y="3657600"/>
            <a:ext cx="457200" cy="457200"/>
          </a:xfrm>
          <a:prstGeom prst="ellipse">
            <a:avLst/>
          </a:prstGeom>
          <a:solidFill>
            <a:srgbClr val="0576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520440" y="3657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0" y="3657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Engagement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520440" y="4206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completion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enrollment rate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26480" y="352044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309360" y="3657600"/>
            <a:ext cx="457200" cy="45720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309360" y="3657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903720" y="3657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309360" y="4206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completion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visits in 7 days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Learning  •  Tech Product Management  •  3/12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A66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A6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ARTIFACT #1  •  USER PERSONA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 Jamie Dimon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200400" cy="3200400"/>
          </a:xfrm>
          <a:prstGeom prst="roundRect">
            <a:avLst>
              <a:gd name="adj" fmla="val 2857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463040" y="1691640"/>
            <a:ext cx="1371600" cy="1371600"/>
          </a:xfrm>
          <a:prstGeom prst="ellipse">
            <a:avLst/>
          </a:prstGeom>
          <a:solidFill>
            <a:srgbClr val="0A66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463040" y="169164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JD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640080" y="31546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Jamie Dimon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3520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1B8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JUNIOR ANALYST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71600" y="3840480"/>
            <a:ext cx="1554480" cy="9144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39319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Salary  $50K – $65K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420624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Promotion in 1–2 years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023360" y="1463040"/>
            <a:ext cx="4572000" cy="3200400"/>
          </a:xfrm>
          <a:prstGeom prst="roundRect">
            <a:avLst>
              <a:gd name="adj" fmla="val 2857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023360" y="1463040"/>
            <a:ext cx="4572000" cy="45720"/>
          </a:xfrm>
          <a:prstGeom prst="rect">
            <a:avLst/>
          </a:prstGeom>
          <a:solidFill>
            <a:srgbClr val="0576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251960" y="16002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Professional &amp; Financial Profile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251960" y="20574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A1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Salary &amp; Growth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251960" y="233172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Jamie earns between $50K and $65K annually, aiming for a promotion within 1–2 years through targeted learning and skill development.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251960" y="3246120"/>
            <a:ext cx="2011680" cy="1280160"/>
          </a:xfrm>
          <a:prstGeom prst="roundRect">
            <a:avLst>
              <a:gd name="adj" fmla="val 4286"/>
            </a:avLst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251960" y="329184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EA1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$57K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4251960" y="38862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Salary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25196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Targeting Mid-Level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355080" y="3246120"/>
            <a:ext cx="2011680" cy="1280160"/>
          </a:xfrm>
          <a:prstGeom prst="roundRect">
            <a:avLst>
              <a:gd name="adj" fmla="val 4286"/>
            </a:avLst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355080" y="329184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B8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12mo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6355080" y="38862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 Goal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35508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Upskilling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Learning  •  Tech Product Management  •  4/12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A66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A6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ARTIFACT #1  •  USER PERSONA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Behavior &amp; What He Values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6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Behavior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931920" cy="1234440"/>
          </a:xfrm>
          <a:prstGeom prst="roundRect">
            <a:avLst>
              <a:gd name="adj" fmla="val 5926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4864" cy="1234440"/>
          </a:xfrm>
          <a:prstGeom prst="rect">
            <a:avLst/>
          </a:prstGeom>
          <a:solidFill>
            <a:srgbClr val="0A66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1965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Decision Maker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23317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decision-maker for course subscriptions, balancing aspirations with budget.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246120"/>
            <a:ext cx="3931920" cy="1234440"/>
          </a:xfrm>
          <a:prstGeom prst="roundRect">
            <a:avLst>
              <a:gd name="adj" fmla="val 5926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48640" y="3246120"/>
            <a:ext cx="54864" cy="1234440"/>
          </a:xfrm>
          <a:prstGeom prst="rect">
            <a:avLst/>
          </a:prstGeom>
          <a:solidFill>
            <a:srgbClr val="0A66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77240" y="3383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Motivated by Advancement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37490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Driven by career growth — shares accomplishments on LinkedIn for visibility.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14630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576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Propositions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754880" y="1828800"/>
            <a:ext cx="3931920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892040" y="2011680"/>
            <a:ext cx="502920" cy="502920"/>
          </a:xfrm>
          <a:prstGeom prst="ellipse">
            <a:avLst/>
          </a:prstGeom>
          <a:solidFill>
            <a:srgbClr val="0576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92040" y="2011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🚀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486400" y="19385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Promotion-Ready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0" y="22128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aligned with industry trends and employer expectations.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2788920"/>
            <a:ext cx="3931920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892040" y="2971800"/>
            <a:ext cx="502920" cy="502920"/>
          </a:xfrm>
          <a:prstGeom prst="ellipse">
            <a:avLst/>
          </a:prstGeom>
          <a:solidFill>
            <a:srgbClr val="0576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92040" y="2971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486400" y="28986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Efficient Learning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0" y="31729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Bite-sized modules to fit a busy schedule.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3749040"/>
            <a:ext cx="3931920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892040" y="3931920"/>
            <a:ext cx="502920" cy="502920"/>
          </a:xfrm>
          <a:prstGeom prst="ellipse">
            <a:avLst/>
          </a:prstGeom>
          <a:solidFill>
            <a:srgbClr val="0576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892040" y="3931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🏅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486400" y="38587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Shareable Credentials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486400" y="41330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Certifications easily showcased on LinkedIn.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864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Learning  •  Tech Product Management  •  5/12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A66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A6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ARTIFACT #1  •  USER PERSONA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Current Challenges &amp; Special Needs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C1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Challenges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931920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4864" cy="868680"/>
          </a:xfrm>
          <a:prstGeom prst="rect">
            <a:avLst/>
          </a:prstGeom>
          <a:solidFill>
            <a:srgbClr val="CC10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19659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C1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1938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Unstructured Learning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88720" y="221284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Relies on YouTube/blogs — inconsistent, no credentials.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788920"/>
            <a:ext cx="3931920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48640" y="2788920"/>
            <a:ext cx="54864" cy="868680"/>
          </a:xfrm>
          <a:prstGeom prst="rect">
            <a:avLst/>
          </a:prstGeom>
          <a:solidFill>
            <a:srgbClr val="CC10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2926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C1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88720" y="28986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Overload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88720" y="317296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resources — can't filter what's relevant.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3931920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54864" cy="868680"/>
          </a:xfrm>
          <a:prstGeom prst="rect">
            <a:avLst/>
          </a:prstGeom>
          <a:solidFill>
            <a:srgbClr val="CC10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77240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C1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88720" y="38587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Proving Skills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413308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structured credentials to show employers.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754880" y="14630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576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 Needs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754880" y="1828800"/>
            <a:ext cx="3931920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754880" y="1828800"/>
            <a:ext cx="54864" cy="868680"/>
          </a:xfrm>
          <a:prstGeom prst="rect">
            <a:avLst/>
          </a:prstGeom>
          <a:solidFill>
            <a:srgbClr val="0576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983480" y="19659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A1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394960" y="1938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Mobile-Friendly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394960" y="221284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Optimized for mobile — accessibility anytime, anywhere.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754880" y="2788920"/>
            <a:ext cx="3931920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754880" y="2788920"/>
            <a:ext cx="54864" cy="868680"/>
          </a:xfrm>
          <a:prstGeom prst="rect">
            <a:avLst/>
          </a:prstGeom>
          <a:solidFill>
            <a:srgbClr val="0576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983480" y="2926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A1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394960" y="28986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Affordable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394960" y="317296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Cost-effective solutions within his budget.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754880" y="3749040"/>
            <a:ext cx="3931920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754880" y="3749040"/>
            <a:ext cx="54864" cy="868680"/>
          </a:xfrm>
          <a:prstGeom prst="rect">
            <a:avLst/>
          </a:prstGeom>
          <a:solidFill>
            <a:srgbClr val="0576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983480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A1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5394960" y="38587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Short-Format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394960" y="413308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Concise content for effective learning in busy schedule.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Learning  •  Tech Product Management  •  6/12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A66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A6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ARTIFACT #2  •  USER INTERVIEWS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asked, what we heard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657600" cy="3200400"/>
          </a:xfrm>
          <a:prstGeom prst="roundRect">
            <a:avLst>
              <a:gd name="adj" fmla="val 2857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657600" cy="45720"/>
          </a:xfrm>
          <a:prstGeom prst="rect">
            <a:avLst/>
          </a:prstGeom>
          <a:solidFill>
            <a:srgbClr val="0A66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77240" y="1600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Questions Asked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2057400"/>
            <a:ext cx="274320" cy="274320"/>
          </a:xfrm>
          <a:prstGeom prst="ellipse">
            <a:avLst/>
          </a:prstGeom>
          <a:solidFill>
            <a:srgbClr val="0A66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20574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43000" y="2011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currently identify what skills to develop?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2560320"/>
            <a:ext cx="274320" cy="274320"/>
          </a:xfrm>
          <a:prstGeom prst="ellipse">
            <a:avLst/>
          </a:prstGeom>
          <a:solidFill>
            <a:srgbClr val="0A66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7724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43000" y="2514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you used LinkedIn Learning? Why or why not?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" y="3063240"/>
            <a:ext cx="274320" cy="274320"/>
          </a:xfrm>
          <a:prstGeom prst="ellipse">
            <a:avLst/>
          </a:prstGeom>
          <a:solidFill>
            <a:srgbClr val="0A66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0632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143000" y="3017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motivates you to take an online course?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77240" y="3566160"/>
            <a:ext cx="274320" cy="274320"/>
          </a:xfrm>
          <a:prstGeom prst="ellipse">
            <a:avLst/>
          </a:prstGeom>
          <a:solidFill>
            <a:srgbClr val="0A66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77240" y="35661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43000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decide between LinkedIn Learning vs. Coursera/Udemy?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7240" y="4069080"/>
            <a:ext cx="274320" cy="274320"/>
          </a:xfrm>
          <a:prstGeom prst="ellipse">
            <a:avLst/>
          </a:prstGeom>
          <a:solidFill>
            <a:srgbClr val="0A66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77240" y="40690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430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job match scores influence your course choices?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480560" y="14630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Quotes from Users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480560" y="1828800"/>
            <a:ext cx="4114800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4480560" y="1828800"/>
            <a:ext cx="54864" cy="868680"/>
          </a:xfrm>
          <a:prstGeom prst="rect">
            <a:avLst/>
          </a:prstGeom>
          <a:solidFill>
            <a:srgbClr val="0A66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709160" y="19202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 am not familiar with LI Learning, but I use LinkedIn every day."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709160" y="24231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80560" y="2788920"/>
            <a:ext cx="4114800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480560" y="2788920"/>
            <a:ext cx="54864" cy="86868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709160" y="28803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 want to save time on watching learning videos”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709160" y="338328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80560" y="3749040"/>
            <a:ext cx="4114800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480560" y="3749040"/>
            <a:ext cx="54864" cy="868680"/>
          </a:xfrm>
          <a:prstGeom prst="rect">
            <a:avLst/>
          </a:prstGeom>
          <a:solidFill>
            <a:srgbClr val="0576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709160" y="38404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 wish LI Learning had more recognition."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709160" y="43434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4864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Learning  •  Tech Product Management  •  7/12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A66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A6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ARTIFACT #3  •  EFFORT vs. IMPACT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Prioritizing what to build first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4754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Low Effort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0" y="4754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Effort →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" y="16459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 High Impact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" y="4297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Low Impact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914400" y="1554480"/>
            <a:ext cx="5029200" cy="310896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429000" y="1554480"/>
            <a:ext cx="0" cy="3108960"/>
          </a:xfrm>
          <a:prstGeom prst="line">
            <a:avLst/>
          </a:prstGeom>
          <a:noFill/>
          <a:ln w="12700">
            <a:solidFill>
              <a:srgbClr val="21262D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914400" y="3108960"/>
            <a:ext cx="5029200" cy="0"/>
          </a:xfrm>
          <a:prstGeom prst="line">
            <a:avLst/>
          </a:prstGeom>
          <a:noFill/>
          <a:ln w="12700">
            <a:solidFill>
              <a:srgbClr val="21262D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05840" y="1600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2EA1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WINS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520440" y="1600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1B8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BETS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05840" y="3154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FILL-INS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520440" y="3154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C1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THANKLESS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746504" y="2040941"/>
            <a:ext cx="146304" cy="146304"/>
          </a:xfrm>
          <a:prstGeom prst="ellipse">
            <a:avLst/>
          </a:prstGeom>
          <a:solidFill>
            <a:srgbClr val="2EA1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911096" y="1995221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Confidence Tracker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350008" y="2414016"/>
            <a:ext cx="146304" cy="146304"/>
          </a:xfrm>
          <a:prstGeom prst="ellipse">
            <a:avLst/>
          </a:prstGeom>
          <a:solidFill>
            <a:srgbClr val="2EA1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514600" y="2368296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Calculator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852928" y="2103120"/>
            <a:ext cx="146304" cy="146304"/>
          </a:xfrm>
          <a:prstGeom prst="ellipse">
            <a:avLst/>
          </a:prstGeom>
          <a:solidFill>
            <a:srgbClr val="2EA1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017520" y="205740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Streak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110228" y="1947672"/>
            <a:ext cx="146304" cy="146304"/>
          </a:xfrm>
          <a:prstGeom prst="ellipse">
            <a:avLst/>
          </a:prstGeom>
          <a:solidFill>
            <a:srgbClr val="1B8F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274820" y="190195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Course Engine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864608" y="2414016"/>
            <a:ext cx="146304" cy="146304"/>
          </a:xfrm>
          <a:prstGeom prst="ellipse">
            <a:avLst/>
          </a:prstGeom>
          <a:solidFill>
            <a:srgbClr val="1B8F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029200" y="2368296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Skill→Job Mapper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07308" y="2724912"/>
            <a:ext cx="146304" cy="146304"/>
          </a:xfrm>
          <a:prstGeom prst="ellipse">
            <a:avLst/>
          </a:prstGeom>
          <a:solidFill>
            <a:srgbClr val="1B8F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771900" y="267919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vs Coursera Dashboard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847088" y="3502152"/>
            <a:ext cx="146304" cy="146304"/>
          </a:xfrm>
          <a:prstGeom prst="ellipse">
            <a:avLst/>
          </a:prstGeom>
          <a:solidFill>
            <a:srgbClr val="8B949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2011680" y="345643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Pro/Con Lists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601468" y="3813048"/>
            <a:ext cx="146304" cy="146304"/>
          </a:xfrm>
          <a:prstGeom prst="ellipse">
            <a:avLst/>
          </a:prstGeom>
          <a:solidFill>
            <a:srgbClr val="8B949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766060" y="376732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Per-Course Cost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613148" y="3813048"/>
            <a:ext cx="146304" cy="146304"/>
          </a:xfrm>
          <a:prstGeom prst="ellipse">
            <a:avLst/>
          </a:prstGeom>
          <a:solidFill>
            <a:srgbClr val="CC10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777740" y="376732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Recruiter Search Data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217920" y="1463040"/>
            <a:ext cx="2377440" cy="3108960"/>
          </a:xfrm>
          <a:prstGeom prst="roundRect">
            <a:avLst>
              <a:gd name="adj" fmla="val 3077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217920" y="1463040"/>
            <a:ext cx="2377440" cy="45720"/>
          </a:xfrm>
          <a:prstGeom prst="rect">
            <a:avLst/>
          </a:prstGeom>
          <a:solidFill>
            <a:srgbClr val="0A66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355080" y="16002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Selected for Prototype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355080" y="1965960"/>
            <a:ext cx="219456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EA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Personalized Engine</a:t>
            </a:r>
            <a:endParaRPr lang="en-US" sz="11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courses to your skill gaps</a:t>
            </a:r>
            <a:endParaRPr lang="en-US" sz="11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EA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Skill → Job Mapper</a:t>
            </a:r>
            <a:endParaRPr lang="en-US" sz="11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skills to real LI jobs</a:t>
            </a:r>
            <a:endParaRPr lang="en-US" sz="11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EA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Skill Assessment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quiz → match scores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4864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Learning  •  Tech Product Management  •  8/12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A66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A6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PROTOTYPE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8-Screen Interactive Journey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1920240" cy="45720"/>
          </a:xfrm>
          <a:prstGeom prst="rect">
            <a:avLst/>
          </a:prstGeom>
          <a:solidFill>
            <a:srgbClr val="0A66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40080" y="1645920"/>
            <a:ext cx="292608" cy="292608"/>
          </a:xfrm>
          <a:prstGeom prst="ellipse">
            <a:avLst/>
          </a:prstGeom>
          <a:solidFill>
            <a:srgbClr val="0A66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16459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20116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widget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468880" y="17830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B949E"/>
                </a:solidFill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697480" y="15087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697480" y="1508760"/>
            <a:ext cx="1920240" cy="45720"/>
          </a:xfrm>
          <a:prstGeom prst="rect">
            <a:avLst/>
          </a:prstGeom>
          <a:solidFill>
            <a:srgbClr val="0A66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788920" y="1645920"/>
            <a:ext cx="292608" cy="292608"/>
          </a:xfrm>
          <a:prstGeom prst="ellipse">
            <a:avLst/>
          </a:prstGeom>
          <a:solidFill>
            <a:srgbClr val="0A66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788920" y="16459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154680" y="16459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834640" y="20116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&amp; matches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617720" y="17830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B949E"/>
                </a:solidFill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846320" y="15087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846320" y="1508760"/>
            <a:ext cx="1920240" cy="45720"/>
          </a:xfrm>
          <a:prstGeom prst="rect">
            <a:avLst/>
          </a:prstGeom>
          <a:solidFill>
            <a:srgbClr val="1B8F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937760" y="1645920"/>
            <a:ext cx="292608" cy="292608"/>
          </a:xfrm>
          <a:prstGeom prst="ellipse">
            <a:avLst/>
          </a:prstGeom>
          <a:solidFill>
            <a:srgbClr val="1B8F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937760" y="16459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303520" y="16459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83480" y="20116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intro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766560" y="17830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B949E"/>
                </a:solidFill>
              </a:rPr>
              <a:t>→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995160" y="15087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995160" y="1508760"/>
            <a:ext cx="1920240" cy="45720"/>
          </a:xfrm>
          <a:prstGeom prst="rect">
            <a:avLst/>
          </a:prstGeom>
          <a:solidFill>
            <a:srgbClr val="1B8F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7086600" y="1645920"/>
            <a:ext cx="292608" cy="292608"/>
          </a:xfrm>
          <a:prstGeom prst="ellipse">
            <a:avLst/>
          </a:prstGeom>
          <a:solidFill>
            <a:srgbClr val="1B8F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086600" y="16459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452360" y="16459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132320" y="20116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questions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" y="28803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548640" y="2880360"/>
            <a:ext cx="1920240" cy="45720"/>
          </a:xfrm>
          <a:prstGeom prst="rect">
            <a:avLst/>
          </a:prstGeom>
          <a:solidFill>
            <a:srgbClr val="0576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40080" y="3017520"/>
            <a:ext cx="292608" cy="292608"/>
          </a:xfrm>
          <a:prstGeom prst="ellipse">
            <a:avLst/>
          </a:prstGeom>
          <a:solidFill>
            <a:srgbClr val="0576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40080" y="30175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05840" y="30175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" y="33832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&amp; radar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468880" y="31546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B949E"/>
                </a:solidFill>
              </a:rPr>
              <a:t>→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2697480" y="28803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2697480" y="2880360"/>
            <a:ext cx="1920240" cy="45720"/>
          </a:xfrm>
          <a:prstGeom prst="rect">
            <a:avLst/>
          </a:prstGeom>
          <a:solidFill>
            <a:srgbClr val="0576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2788920" y="3017520"/>
            <a:ext cx="292608" cy="292608"/>
          </a:xfrm>
          <a:prstGeom prst="ellipse">
            <a:avLst/>
          </a:prstGeom>
          <a:solidFill>
            <a:srgbClr val="0576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2788920" y="30175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3154680" y="30175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Analysis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2834640" y="33832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Before/After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617720" y="31546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B949E"/>
                </a:solidFill>
              </a:rPr>
              <a:t>→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846320" y="28803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4846320" y="2880360"/>
            <a:ext cx="1920240" cy="457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4937760" y="3017520"/>
            <a:ext cx="292608" cy="292608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937760" y="30175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5303520" y="30175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Courses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4983480" y="33832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list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766560" y="31546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B949E"/>
                </a:solidFill>
              </a:rPr>
              <a:t>→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6995160" y="28803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6995160" y="2880360"/>
            <a:ext cx="1920240" cy="457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7086600" y="3017520"/>
            <a:ext cx="292608" cy="292608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7086600" y="30175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7452360" y="30175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7132320" y="33832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&amp; enroll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8366760" y="269748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B949E"/>
                </a:solidFill>
              </a:rPr>
              <a:t>↓</a:t>
            </a:r>
            <a:endParaRPr lang="en-US" sz="1800" dirty="0"/>
          </a:p>
        </p:txBody>
      </p:sp>
      <p:sp>
        <p:nvSpPr>
          <p:cNvPr id="60" name="Shape 58"/>
          <p:cNvSpPr/>
          <p:nvPr/>
        </p:nvSpPr>
        <p:spPr>
          <a:xfrm>
            <a:off x="548640" y="4434840"/>
            <a:ext cx="8046720" cy="411480"/>
          </a:xfrm>
          <a:prstGeom prst="roundRect">
            <a:avLst>
              <a:gd name="adj" fmla="val 17778"/>
            </a:avLst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548640" y="44348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8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Live Demo:  parikshit7319.github.io/li-skills-prototype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54864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Learning  •  Tech Product Management  •  9/12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A66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A6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 •  KEY FEATURES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 Dashboard &amp; Gap Analysis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4114800" cy="3200400"/>
          </a:xfrm>
          <a:prstGeom prst="roundRect">
            <a:avLst>
              <a:gd name="adj" fmla="val 2857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4114800" cy="45720"/>
          </a:xfrm>
          <a:prstGeom prst="rect">
            <a:avLst/>
          </a:prstGeom>
          <a:solidFill>
            <a:srgbClr val="0A66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7724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Dashboard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skill profile + top job matches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233172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4285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77240" y="2331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23774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Manager — Google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794760" y="233172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2EA1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87%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77240" y="283464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0668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7240" y="2834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34440" y="2880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Sr. Product Analyst — Meta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794760" y="283464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2EA1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72%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7240" y="333756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DB9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77240" y="3337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34440" y="3383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Research Lead — Spotify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794760" y="333756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2EA1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77240" y="38404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635B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77240" y="3840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34440" y="3886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PM — Stripe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794760" y="384048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2EA1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61%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937760" y="1463040"/>
            <a:ext cx="3657600" cy="3200400"/>
          </a:xfrm>
          <a:prstGeom prst="roundRect">
            <a:avLst>
              <a:gd name="adj" fmla="val 2857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937760" y="1463040"/>
            <a:ext cx="3657600" cy="45720"/>
          </a:xfrm>
          <a:prstGeom prst="rect">
            <a:avLst/>
          </a:prstGeom>
          <a:solidFill>
            <a:srgbClr val="0576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166360" y="1600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Analysis: Before / After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166360" y="2011680"/>
            <a:ext cx="640080" cy="274320"/>
          </a:xfrm>
          <a:prstGeom prst="roundRect">
            <a:avLst>
              <a:gd name="adj" fmla="val 20000"/>
            </a:avLst>
          </a:prstGeom>
          <a:solidFill>
            <a:srgbClr val="CC10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166360" y="20116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897880" y="2011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Manager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955280" y="20116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89F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87%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166360" y="2377440"/>
            <a:ext cx="1554480" cy="256032"/>
          </a:xfrm>
          <a:prstGeom prst="roundRect">
            <a:avLst>
              <a:gd name="adj" fmla="val 17857"/>
            </a:avLst>
          </a:prstGeom>
          <a:solidFill>
            <a:srgbClr val="0D33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166360" y="237744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EA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Strategy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858000" y="2377440"/>
            <a:ext cx="1554480" cy="256032"/>
          </a:xfrm>
          <a:prstGeom prst="roundRect">
            <a:avLst>
              <a:gd name="adj" fmla="val 17857"/>
            </a:avLst>
          </a:prstGeom>
          <a:solidFill>
            <a:srgbClr val="0D33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858000" y="237744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EA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Agile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166360" y="2697480"/>
            <a:ext cx="1554480" cy="256032"/>
          </a:xfrm>
          <a:prstGeom prst="roundRect">
            <a:avLst>
              <a:gd name="adj" fmla="val 17857"/>
            </a:avLst>
          </a:prstGeom>
          <a:solidFill>
            <a:srgbClr val="3D101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166360" y="269748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C10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SQL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858000" y="2697480"/>
            <a:ext cx="1554480" cy="256032"/>
          </a:xfrm>
          <a:prstGeom prst="roundRect">
            <a:avLst>
              <a:gd name="adj" fmla="val 17857"/>
            </a:avLst>
          </a:prstGeom>
          <a:solidFill>
            <a:srgbClr val="3D101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858000" y="269748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C10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Writing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400800" y="3108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8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166360" y="3429000"/>
            <a:ext cx="914400" cy="274320"/>
          </a:xfrm>
          <a:prstGeom prst="roundRect">
            <a:avLst>
              <a:gd name="adj" fmla="val 20000"/>
            </a:avLst>
          </a:prstGeom>
          <a:solidFill>
            <a:srgbClr val="0576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166360" y="34290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172200" y="3429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Manager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955280" y="34290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2EA1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5166360" y="3794760"/>
            <a:ext cx="1554480" cy="256032"/>
          </a:xfrm>
          <a:prstGeom prst="roundRect">
            <a:avLst>
              <a:gd name="adj" fmla="val 17857"/>
            </a:avLst>
          </a:prstGeom>
          <a:solidFill>
            <a:srgbClr val="0D33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5166360" y="37947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EA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Strategy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858000" y="3794760"/>
            <a:ext cx="1554480" cy="256032"/>
          </a:xfrm>
          <a:prstGeom prst="roundRect">
            <a:avLst>
              <a:gd name="adj" fmla="val 17857"/>
            </a:avLst>
          </a:prstGeom>
          <a:solidFill>
            <a:srgbClr val="0D33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6858000" y="37947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EA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Agile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166360" y="4114800"/>
            <a:ext cx="1554480" cy="256032"/>
          </a:xfrm>
          <a:prstGeom prst="roundRect">
            <a:avLst>
              <a:gd name="adj" fmla="val 17857"/>
            </a:avLst>
          </a:prstGeom>
          <a:solidFill>
            <a:srgbClr val="0D33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5166360" y="411480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EA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SQL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58000" y="4114800"/>
            <a:ext cx="1554480" cy="256032"/>
          </a:xfrm>
          <a:prstGeom prst="roundRect">
            <a:avLst>
              <a:gd name="adj" fmla="val 17857"/>
            </a:avLst>
          </a:prstGeom>
          <a:solidFill>
            <a:srgbClr val="0D33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6858000" y="411480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EA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Writing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4864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Learning  •  Tech Product Management  •  10/12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A66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A6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TEST RESULTS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learned from testing the prototype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1920240" cy="123444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1920240" cy="45720"/>
          </a:xfrm>
          <a:prstGeom prst="rect">
            <a:avLst/>
          </a:prstGeom>
          <a:solidFill>
            <a:srgbClr val="0576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50876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576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9/10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214884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Usefulness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97480" y="1417320"/>
            <a:ext cx="1920240" cy="123444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697480" y="1417320"/>
            <a:ext cx="1920240" cy="45720"/>
          </a:xfrm>
          <a:prstGeom prst="rect">
            <a:avLst/>
          </a:prstGeom>
          <a:solidFill>
            <a:srgbClr val="0A66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697480" y="150876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A6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697480" y="214884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46320" y="1417320"/>
            <a:ext cx="1920240" cy="123444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846320" y="1417320"/>
            <a:ext cx="1920240" cy="45720"/>
          </a:xfrm>
          <a:prstGeom prst="rect">
            <a:avLst/>
          </a:prstGeom>
          <a:solidFill>
            <a:srgbClr val="1B8F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46320" y="150876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8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846320" y="214884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use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Learning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95160" y="1417320"/>
            <a:ext cx="1920240" cy="123444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995160" y="1417320"/>
            <a:ext cx="1920240" cy="457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95160" y="150876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995160" y="214884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Promoter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200400"/>
            <a:ext cx="8046720" cy="274320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85800" y="32004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A1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05840" y="32004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6/8 users noticed the Skills widget without prompting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3529584"/>
            <a:ext cx="8046720" cy="274320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85800" y="3529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A1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05840" y="352958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match % was the #1 cited motivator to take a course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3858768"/>
            <a:ext cx="8046720" cy="274320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85800" y="385876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A1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05840" y="385876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Before/After toggle was the most praised feature — sells the value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4187952"/>
            <a:ext cx="8046720" cy="274320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85800" y="418795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8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005840" y="418795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wanted to share results on their profile and with their network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48640" y="4517136"/>
            <a:ext cx="8046720" cy="274320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85800" y="45171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8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005840" y="451713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Paths preferred over individual courses (higher commit intent)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Learning  •  Tech Product Management  •  11/12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A66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A6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THOUGHTS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 / No-Go Decision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657600" cy="3200400"/>
          </a:xfrm>
          <a:prstGeom prst="roundRect">
            <a:avLst>
              <a:gd name="adj" fmla="val 2857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657600" cy="45720"/>
          </a:xfrm>
          <a:prstGeom prst="rect">
            <a:avLst/>
          </a:prstGeom>
          <a:solidFill>
            <a:srgbClr val="0576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691640" y="1828800"/>
            <a:ext cx="1371600" cy="1371600"/>
          </a:xfrm>
          <a:prstGeom prst="ellipse">
            <a:avLst/>
          </a:prstGeom>
          <a:solidFill>
            <a:srgbClr val="05764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691640" y="182880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548640" y="3337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611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Move forward to development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4023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by user testing &amp; demand signals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80560" y="14630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576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GO?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480560" y="1828800"/>
            <a:ext cx="4114800" cy="640080"/>
          </a:xfrm>
          <a:prstGeom prst="roundRect">
            <a:avLst>
              <a:gd name="adj" fmla="val 8571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617720" y="2011680"/>
            <a:ext cx="274320" cy="274320"/>
          </a:xfrm>
          <a:prstGeom prst="ellipse">
            <a:avLst/>
          </a:prstGeom>
          <a:solidFill>
            <a:srgbClr val="0576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617720" y="20116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0" y="18745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Validated demand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0" y="21488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 of users said they'd use LI Learning if personalized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480560" y="2542032"/>
            <a:ext cx="4114800" cy="640080"/>
          </a:xfrm>
          <a:prstGeom prst="roundRect">
            <a:avLst>
              <a:gd name="adj" fmla="val 8571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617720" y="2724912"/>
            <a:ext cx="274320" cy="274320"/>
          </a:xfrm>
          <a:prstGeom prst="ellipse">
            <a:avLst/>
          </a:prstGeom>
          <a:solidFill>
            <a:srgbClr val="0576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617720" y="272491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0" y="258775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differentiation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0" y="28620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Job-match scores are unique vs. Coursera/Udemy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480560" y="3255264"/>
            <a:ext cx="4114800" cy="640080"/>
          </a:xfrm>
          <a:prstGeom prst="roundRect">
            <a:avLst>
              <a:gd name="adj" fmla="val 8571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617720" y="3438144"/>
            <a:ext cx="274320" cy="274320"/>
          </a:xfrm>
          <a:prstGeom prst="ellipse">
            <a:avLst/>
          </a:prstGeom>
          <a:solidFill>
            <a:srgbClr val="0576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617720" y="34381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29200" y="330098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technical risk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29200" y="35753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on existing LinkedIn data (skills, jobs, profile)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80560" y="3968496"/>
            <a:ext cx="4114800" cy="640080"/>
          </a:xfrm>
          <a:prstGeom prst="roundRect">
            <a:avLst>
              <a:gd name="adj" fmla="val 8571"/>
            </a:avLst>
          </a:prstGeom>
          <a:solidFill>
            <a:srgbClr val="161B2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617720" y="4151376"/>
            <a:ext cx="274320" cy="274320"/>
          </a:xfrm>
          <a:prstGeom prst="ellipse">
            <a:avLst/>
          </a:prstGeom>
          <a:solidFill>
            <a:srgbClr val="0576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617720" y="415137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29200" y="401421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alignment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029200" y="428853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MAU, retention, and Premium upsell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48640" y="4709160"/>
            <a:ext cx="8046720" cy="274320"/>
          </a:xfrm>
          <a:prstGeom prst="roundRect">
            <a:avLst>
              <a:gd name="adj" fmla="val 20000"/>
            </a:avLst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8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 •  Live Prototype: parikshit7319.github.io/li-skills-prototype  •  LC Dy, Tung Le, Parikshit Ambhore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1055</Words>
  <Application>Microsoft Macintosh PowerPoint</Application>
  <PresentationFormat>On-screen Show (16:9)</PresentationFormat>
  <Paragraphs>272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Arial</vt:lpstr>
      <vt:lpstr>Calibri</vt:lpstr>
      <vt:lpstr>Calibri Light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LinkedIn Learning - Final Presentation</dc:title>
  <dc:subject>PptxGenJS Presentation</dc:subject>
  <dc:creator>LC Dy, Tung Le, Parikshit Ambhore</dc:creator>
  <cp:lastModifiedBy>Tung Le</cp:lastModifiedBy>
  <cp:revision>2</cp:revision>
  <dcterms:created xsi:type="dcterms:W3CDTF">2026-04-21T23:42:41Z</dcterms:created>
  <dcterms:modified xsi:type="dcterms:W3CDTF">2026-04-22T14:48:13Z</dcterms:modified>
</cp:coreProperties>
</file>