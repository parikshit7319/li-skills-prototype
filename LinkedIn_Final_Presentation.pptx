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292608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0972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A66C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PRODUCT MANAGEMENT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Learning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8F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Closing the Skills-to-Career Gap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•  Spring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5720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Dy  •  Tung Le  •  Parikshit Ambhore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1645920"/>
            <a:ext cx="1463040" cy="1463040"/>
          </a:xfrm>
          <a:prstGeom prst="ellipse">
            <a:avLst/>
          </a:prstGeom>
          <a:solidFill>
            <a:srgbClr val="0A66C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6459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6583680" y="338328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429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Score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&amp; Validity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4114800" cy="45720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LinkedIn Learning?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on LinkedIn for learning new skills — courses taught by industry professionals, with certifications shareable on your profile.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1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IT'S BURIED: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 "LI Learning"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"LI Learning Page"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Visit website in new tab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Finally access the product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463040"/>
            <a:ext cx="54864" cy="1508760"/>
          </a:xfrm>
          <a:prstGeom prst="rect">
            <a:avLst/>
          </a:prstGeom>
          <a:solidFill>
            <a:srgbClr val="CC1016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1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#1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663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Awareness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LinkedIn power users don't know LI Learning exists or how to find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15468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3154680"/>
            <a:ext cx="54864" cy="1508760"/>
          </a:xfrm>
          <a:prstGeom prst="rect">
            <a:avLst/>
          </a:prstGeom>
          <a:solidFill>
            <a:srgbClr val="E89F17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9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#2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No Value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 who are aware, courses feel generic — no clear connection to their career goals.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HYPOTHESIS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personalize, engagement will follow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804672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1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LinkedIn Learning visible on the home page </a:t>
            </a:r>
            <a:pPr indent="0" marL="0">
              <a:buNone/>
            </a:pPr>
            <a:r>
              <a:rPr lang="en-US" sz="1800" i="1" dirty="0">
                <a:solidFill>
                  <a:srgbClr val="C9D1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 course recommendations to job-skill gaps</a:t>
            </a:r>
            <a:pPr indent="0" marL="0">
              <a:buNone/>
            </a:pPr>
            <a:r>
              <a:rPr lang="en-US" sz="1800" i="1" dirty="0">
                <a:solidFill>
                  <a:srgbClr val="C9D1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then user awareness and engagement with LI Learning will significantly increase.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measure: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widget CTR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promo engagement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35204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0440" y="3657600"/>
            <a:ext cx="457200" cy="45720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completion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enrollment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5204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6576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visits in 7 days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#1  •  USER PERSONA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Parikshit Ambhore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691640"/>
            <a:ext cx="1371600" cy="137160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691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Parikshit Ambhore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ANALYST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3840480"/>
            <a:ext cx="155448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 $50K – $65K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Promotion in 1–2 years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146304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0" y="1463040"/>
            <a:ext cx="457200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&amp; Financial Profile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&amp;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23317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Parikshit earns between $50K and $65K annually, aiming for a promotion within 1–2 years through targeted learning and skill development.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324612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21262D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25196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Mid-Level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324612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21262D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12mo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5508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Goal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Upskilling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#1  •  USER PERSONA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&amp; What He Values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Behavior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" cy="123444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Decision Maker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decision-maker for course subscriptions, balancing aspirations with budget.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46120"/>
            <a:ext cx="54864" cy="123444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Motivated by Advancement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career growth — shares accomplishments on LinkedIn for visibility.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7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2011680"/>
            <a:ext cx="502920" cy="50292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Promotion-Ready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aligned with industry trends and employer expectations.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971800"/>
            <a:ext cx="502920" cy="50292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2898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Learning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modules to fit a busy schedule.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931920"/>
            <a:ext cx="502920" cy="50292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Credentials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4133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easily showcased on LinkedIn.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#1  •  USER PERSONA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Challenges &amp; Special Needs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1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" cy="868680"/>
          </a:xfrm>
          <a:prstGeom prst="rect">
            <a:avLst/>
          </a:prstGeom>
          <a:solidFill>
            <a:srgbClr val="CC101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1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212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YouTube/blogs — inconsistent, no credentials.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88920"/>
            <a:ext cx="54864" cy="868680"/>
          </a:xfrm>
          <a:prstGeom prst="rect">
            <a:avLst/>
          </a:prstGeom>
          <a:solidFill>
            <a:srgbClr val="CC101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1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98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Overload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72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resources — can't filter what's relevant.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49040"/>
            <a:ext cx="54864" cy="868680"/>
          </a:xfrm>
          <a:prstGeom prst="rect">
            <a:avLst/>
          </a:prstGeom>
          <a:solidFill>
            <a:srgbClr val="CC101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1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Skills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credentials to show employers.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7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Needs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8288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828800"/>
            <a:ext cx="54864" cy="86868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Mobile-Friendly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212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mobile — accessibility anytime, anywhere.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788920"/>
            <a:ext cx="54864" cy="86868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94960" y="2898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3172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solutions within his budget.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490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49040"/>
            <a:ext cx="54864" cy="86868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94960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Short-Format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content for effective learning in busy schedule.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#2  •  USER INTERVIEWS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asked, what we heard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0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 Asked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currently identify what skills to develop?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560320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used LinkedIn Learning? Why or why not?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motivates you to take an online course?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decide between LinkedIn Learning vs. Coursera/Udemy?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069080"/>
            <a:ext cx="274320" cy="274320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job match scores influence your course choices?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Quotes from Users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18288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1828800"/>
            <a:ext cx="54864" cy="86868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am not familiar with LI Learning, but I use LinkedIn every day."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MBA Student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27889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278892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want to save time on the job search."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3383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Job Seeker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37490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3749040"/>
            <a:ext cx="54864" cy="86868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wish LI had better acceptance rates on job matches."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4343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Working Professional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#3  •  EFFORT vs.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Prioritizing what to build first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Low Effort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Effort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High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 Impact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554480"/>
            <a:ext cx="5029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554480"/>
            <a:ext cx="0" cy="3108960"/>
          </a:xfrm>
          <a:prstGeom prst="line">
            <a:avLst/>
          </a:prstGeom>
          <a:noFill/>
          <a:ln w="12700">
            <a:solidFill>
              <a:srgbClr val="21262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14400" y="3108960"/>
            <a:ext cx="50292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0584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1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THANKLESS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46504" y="2040941"/>
            <a:ext cx="146304" cy="146304"/>
          </a:xfrm>
          <a:prstGeom prst="ellipse">
            <a:avLst/>
          </a:prstGeom>
          <a:solidFill>
            <a:srgbClr val="2E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1911096" y="1995221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Confidence Tracker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50008" y="2414016"/>
            <a:ext cx="146304" cy="146304"/>
          </a:xfrm>
          <a:prstGeom prst="ellipse">
            <a:avLst/>
          </a:prstGeom>
          <a:solidFill>
            <a:srgbClr val="2EA169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23682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Calculator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52928" y="2103120"/>
            <a:ext cx="146304" cy="146304"/>
          </a:xfrm>
          <a:prstGeom prst="ellipse">
            <a:avLst/>
          </a:prstGeom>
          <a:solidFill>
            <a:srgbClr val="2E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2057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Streak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0228" y="1947672"/>
            <a:ext cx="146304" cy="146304"/>
          </a:xfrm>
          <a:prstGeom prst="ellipse">
            <a:avLst/>
          </a:prstGeom>
          <a:solidFill>
            <a:srgbClr val="1B8FE8"/>
          </a:solidFill>
          <a:ln/>
        </p:spPr>
      </p:sp>
      <p:sp>
        <p:nvSpPr>
          <p:cNvPr id="23" name="Text 21"/>
          <p:cNvSpPr/>
          <p:nvPr/>
        </p:nvSpPr>
        <p:spPr>
          <a:xfrm>
            <a:off x="4274820" y="19019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Course Engine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64608" y="2414016"/>
            <a:ext cx="146304" cy="146304"/>
          </a:xfrm>
          <a:prstGeom prst="ellipse">
            <a:avLst/>
          </a:prstGeom>
          <a:solidFill>
            <a:srgbClr val="1B8FE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3682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Skill→Job Mapper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07308" y="2724912"/>
            <a:ext cx="146304" cy="146304"/>
          </a:xfrm>
          <a:prstGeom prst="ellipse">
            <a:avLst/>
          </a:prstGeom>
          <a:solidFill>
            <a:srgbClr val="1B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3771900" y="2679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vs Coursera Dashboard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47088" y="3502152"/>
            <a:ext cx="146304" cy="146304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34564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Pro/Con Lists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01468" y="3813048"/>
            <a:ext cx="146304" cy="146304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1" name="Text 29"/>
          <p:cNvSpPr/>
          <p:nvPr/>
        </p:nvSpPr>
        <p:spPr>
          <a:xfrm>
            <a:off x="2766060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Per-Course Cost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3148" y="3813048"/>
            <a:ext cx="146304" cy="146304"/>
          </a:xfrm>
          <a:prstGeom prst="ellipse">
            <a:avLst/>
          </a:prstGeom>
          <a:solidFill>
            <a:srgbClr val="CC1016"/>
          </a:solidFill>
          <a:ln/>
        </p:spPr>
      </p:sp>
      <p:sp>
        <p:nvSpPr>
          <p:cNvPr id="33" name="Text 31"/>
          <p:cNvSpPr/>
          <p:nvPr/>
        </p:nvSpPr>
        <p:spPr>
          <a:xfrm>
            <a:off x="4777740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Search Data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146304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463040"/>
            <a:ext cx="237744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for Prototype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1965960"/>
            <a:ext cx="21945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Personalized Engine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courses to your skill gaps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Skill → Job Mapper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skills to real LI jobs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Skill Assessment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 → match scores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8-Screen Interactive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192024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292608" cy="292608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widget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97480" y="15087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508760"/>
            <a:ext cx="192024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1645920"/>
            <a:ext cx="292608" cy="292608"/>
          </a:xfrm>
          <a:prstGeom prst="ellipse">
            <a:avLst/>
          </a:prstGeom>
          <a:solidFill>
            <a:srgbClr val="0A66C2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1645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matches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5087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08760"/>
            <a:ext cx="1920240" cy="45720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1645920"/>
            <a:ext cx="292608" cy="292608"/>
          </a:xfrm>
          <a:prstGeom prst="ellipse">
            <a:avLst/>
          </a:prstGeom>
          <a:solidFill>
            <a:srgbClr val="1B8FE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645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intro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95160" y="15087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1508760"/>
            <a:ext cx="1920240" cy="45720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28" name="Shape 26"/>
          <p:cNvSpPr/>
          <p:nvPr/>
        </p:nvSpPr>
        <p:spPr>
          <a:xfrm>
            <a:off x="7086600" y="1645920"/>
            <a:ext cx="292608" cy="292608"/>
          </a:xfrm>
          <a:prstGeom prst="ellipse">
            <a:avLst/>
          </a:prstGeom>
          <a:solidFill>
            <a:srgbClr val="1B8FE8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1645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28803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2880360"/>
            <a:ext cx="192024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3017520"/>
            <a:ext cx="292608" cy="292608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&amp; radar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68880" y="3154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697480" y="28803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697480" y="2880360"/>
            <a:ext cx="192024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41" name="Shape 39"/>
          <p:cNvSpPr/>
          <p:nvPr/>
        </p:nvSpPr>
        <p:spPr>
          <a:xfrm>
            <a:off x="2788920" y="3017520"/>
            <a:ext cx="292608" cy="292608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42" name="Text 40"/>
          <p:cNvSpPr/>
          <p:nvPr/>
        </p:nvSpPr>
        <p:spPr>
          <a:xfrm>
            <a:off x="278892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54680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83464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17720" y="3154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846320" y="28803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288036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Shape 46"/>
          <p:cNvSpPr/>
          <p:nvPr/>
        </p:nvSpPr>
        <p:spPr>
          <a:xfrm>
            <a:off x="4937760" y="301752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98348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list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6560" y="3154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995160" y="28803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95160" y="288036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hape 53"/>
          <p:cNvSpPr/>
          <p:nvPr/>
        </p:nvSpPr>
        <p:spPr>
          <a:xfrm>
            <a:off x="7086600" y="301752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708660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52360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13232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enroll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6676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↓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21262D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 Demo:  parikshit7319.github.io/li-skills-prototype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 • 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Dashboard &amp; Gap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411480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skill profile + top job matches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— Google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4760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68E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Product Analyst — Meta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3337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DB95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Lead — Spotify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3337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840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635B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PM — Stripe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94760" y="3840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14630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463040"/>
            <a:ext cx="365760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Analysis: Before / After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66360" y="2011680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CC1016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978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9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66360" y="2377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3320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377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Strategy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237744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332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2377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Agile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66360" y="269748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3D1012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697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SQL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269748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3D1012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2697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1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Writing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66360" y="342900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057642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3429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22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55280" y="3429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166360" y="37947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3320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7947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Strategy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58000" y="37947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3320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37947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Agile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66360" y="411480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3320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4114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SQL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411480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3320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0" y="41148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Writing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 from testing the prototype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192024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7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417320"/>
            <a:ext cx="1920240" cy="45720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9748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17320"/>
            <a:ext cx="1920240" cy="45720"/>
          </a:xfrm>
          <a:prstGeom prst="rect">
            <a:avLst/>
          </a:prstGeom>
          <a:solidFill>
            <a:srgbClr val="1B8FE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Learning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417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41732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9516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8046720" cy="27432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200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 users noticed the Skills widget without prompting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29584"/>
            <a:ext cx="8046720" cy="27432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529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5295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% was the #1 cited motivator to take a course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858768"/>
            <a:ext cx="8046720" cy="27432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8587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toggle was the most praised feature — sells the value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187952"/>
            <a:ext cx="8046720" cy="27432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1879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wanted to share results on their profile and with their network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517136"/>
            <a:ext cx="8046720" cy="27432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517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5171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 preferred over individual courses (higher commit intent)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Learning  •  Tech Product Management  • 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THOUGHTS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/ No-Go Decision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657600" cy="45720"/>
          </a:xfrm>
          <a:prstGeom prst="rect">
            <a:avLst/>
          </a:prstGeom>
          <a:solidFill>
            <a:srgbClr val="057642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828800"/>
            <a:ext cx="1371600" cy="1371600"/>
          </a:xfrm>
          <a:prstGeom prst="ellipse">
            <a:avLst/>
          </a:prstGeom>
          <a:solidFill>
            <a:srgbClr val="05764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forward to development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user testing &amp; demand signals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7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GO?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011680"/>
            <a:ext cx="274320" cy="27432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demand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users said they'd use LI Learning if personalized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2542032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724912"/>
            <a:ext cx="274320" cy="27432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differentiation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Job-match scores are unique vs. Coursera/Udemy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3255264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438144"/>
            <a:ext cx="274320" cy="27432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300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technical risk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existing LinkedIn data (skills, jobs, profile)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3968496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4151376"/>
            <a:ext cx="274320" cy="274320"/>
          </a:xfrm>
          <a:prstGeom prst="ellipse">
            <a:avLst/>
          </a:prstGeom>
          <a:solidFill>
            <a:srgbClr val="057642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4151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014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4288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MAU, retention, and Premium upsell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8046720" cy="27432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Live Prototype: parikshit7319.github.io/li-skills-prototype  •  LC Dy, Tung Le, Parikshit Ambhore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LinkedIn Learning - Final Presentation</dc:title>
  <dc:subject>PptxGenJS Presentation</dc:subject>
  <dc:creator>LC Dy, Tung Le, Parikshit Ambhore</dc:creator>
  <cp:lastModifiedBy>LC Dy, Tung Le, Parikshit Ambhore</cp:lastModifiedBy>
  <cp:revision>1</cp:revision>
  <dcterms:created xsi:type="dcterms:W3CDTF">2026-04-21T23:42:41Z</dcterms:created>
  <dcterms:modified xsi:type="dcterms:W3CDTF">2026-04-21T23:42:41Z</dcterms:modified>
</cp:coreProperties>
</file>