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66C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A66C2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97280"/>
            <a:ext cx="54864" cy="2926080"/>
          </a:xfrm>
          <a:prstGeom prst="rect">
            <a:avLst/>
          </a:prstGeom>
          <a:solidFill>
            <a:srgbClr val="0A66C2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0972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0A66C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0972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PRODUCT MANAGEMENT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16459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LinkedIn Skills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868680" y="24688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8F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Personalized Learning for Career Growth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68680" y="31089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the gap between your skills and your dream job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68680" y="3840480"/>
            <a:ext cx="4572000" cy="9144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977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 Dy  |  Tung Le  |  Parikshit Ambhore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297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2026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132320" y="1645920"/>
            <a:ext cx="1463040" cy="1463040"/>
          </a:xfrm>
          <a:prstGeom prst="ellipse">
            <a:avLst/>
          </a:prstGeom>
          <a:solidFill>
            <a:srgbClr val="0A66C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132320" y="164592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</a:t>
            </a:r>
            <a:endParaRPr lang="en-US" sz="4800" dirty="0"/>
          </a:p>
        </p:txBody>
      </p:sp>
      <p:sp>
        <p:nvSpPr>
          <p:cNvPr id="15" name="Shape 13"/>
          <p:cNvSpPr/>
          <p:nvPr/>
        </p:nvSpPr>
        <p:spPr>
          <a:xfrm>
            <a:off x="6583680" y="3383280"/>
            <a:ext cx="2103120" cy="1188720"/>
          </a:xfrm>
          <a:prstGeom prst="roundRect">
            <a:avLst>
              <a:gd name="adj" fmla="val 7692"/>
            </a:avLst>
          </a:prstGeom>
          <a:solidFill>
            <a:srgbClr val="161B22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342900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583680" y="39776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Match Score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66C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A6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LinkedIn Learning is invisible to the people who need it most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91640"/>
            <a:ext cx="2560320" cy="45720"/>
          </a:xfrm>
          <a:prstGeom prst="rect">
            <a:avLst/>
          </a:prstGeom>
          <a:solidFill>
            <a:srgbClr val="0A66C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8288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B8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LinkedIn users have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tried LI Learning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37560" y="169164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1691640"/>
            <a:ext cx="2560320" cy="45720"/>
          </a:xfrm>
          <a:prstGeom prst="rect">
            <a:avLst/>
          </a:prstGeom>
          <a:solidFill>
            <a:srgbClr val="0A66C2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18288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B8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337560" y="24688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know what skills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develop next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169164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691640"/>
            <a:ext cx="2560320" cy="45720"/>
          </a:xfrm>
          <a:prstGeom prst="rect">
            <a:avLst/>
          </a:prstGeom>
          <a:solidFill>
            <a:srgbClr val="0A66C2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18288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B8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3x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126480" y="24688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likely to engage with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content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3383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Pain Points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374904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Users don't see a connection between LI Learning courses and their career goals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No personalized skill assessment or gap analysis exists on the platform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Course discovery relies on manual search — no proactive recommendations tied to jobs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66C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A6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RESEARCH &amp; INSIGHTS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heard from users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8046720" cy="9144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63040"/>
            <a:ext cx="54864" cy="914400"/>
          </a:xfrm>
          <a:prstGeom prst="rect">
            <a:avLst/>
          </a:prstGeom>
          <a:solidFill>
            <a:srgbClr val="0A66C2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46304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 didn't even know LinkedIn had a learning platform. I always go to Coursera."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0574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MBA Student, Job Seeker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560320"/>
            <a:ext cx="8046720" cy="9144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560320"/>
            <a:ext cx="54864" cy="9144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56032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"I'd use LI Learning if it told me exactly which skills I'm missing for PM roles."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31546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Working Professional, Career Switcher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8046720" cy="9144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657600"/>
            <a:ext cx="54864" cy="914400"/>
          </a:xfrm>
          <a:prstGeom prst="rect">
            <a:avLst/>
          </a:prstGeom>
          <a:solidFill>
            <a:srgbClr val="057642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65760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 courses feel generic. I want something matched to MY career goals."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42519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Product Analyst, Upskilling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4434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user interviews  |  Mix of job seekers, professionals &amp; career switchers  |  Qualitative + survey data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66C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A6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LinkedIn Skills: Your Career Intelligence Hub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personalized widget on the LinkedIn home page that assesses your skills, matches them to real jobs, and recommends courses to close the gaps.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1920240" cy="2377440"/>
          </a:xfrm>
          <a:prstGeom prst="roundRect">
            <a:avLst>
              <a:gd name="adj" fmla="val 4762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43000" y="2331720"/>
            <a:ext cx="731520" cy="731520"/>
          </a:xfrm>
          <a:prstGeom prst="ellipse">
            <a:avLst/>
          </a:prstGeom>
          <a:solidFill>
            <a:srgbClr val="0A66C2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331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32461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611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5-question skill quiz with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feedback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697480" y="2103120"/>
            <a:ext cx="1920240" cy="2377440"/>
          </a:xfrm>
          <a:prstGeom prst="roundRect">
            <a:avLst>
              <a:gd name="adj" fmla="val 4762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2331720"/>
            <a:ext cx="731520" cy="731520"/>
          </a:xfrm>
          <a:prstGeom prst="ellipse">
            <a:avLst/>
          </a:prstGeom>
          <a:solidFill>
            <a:srgbClr val="057642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2331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697480" y="32461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697480" y="3611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match percentages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your skills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2103120"/>
            <a:ext cx="1920240" cy="2377440"/>
          </a:xfrm>
          <a:prstGeom prst="roundRect">
            <a:avLst>
              <a:gd name="adj" fmla="val 4762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40680" y="2331720"/>
            <a:ext cx="731520" cy="7315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5440680" y="2331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846320" y="32461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46320" y="3611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gap analysis with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before/after projection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995160" y="2103120"/>
            <a:ext cx="1920240" cy="2377440"/>
          </a:xfrm>
          <a:prstGeom prst="roundRect">
            <a:avLst>
              <a:gd name="adj" fmla="val 4762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589520" y="2331720"/>
            <a:ext cx="731520" cy="731520"/>
          </a:xfrm>
          <a:prstGeom prst="ellipse">
            <a:avLst/>
          </a:prstGeom>
          <a:solidFill>
            <a:srgbClr val="E89F17"/>
          </a:solidFill>
          <a:ln/>
        </p:spPr>
      </p:sp>
      <p:sp>
        <p:nvSpPr>
          <p:cNvPr id="23" name="Text 21"/>
          <p:cNvSpPr/>
          <p:nvPr/>
        </p:nvSpPr>
        <p:spPr>
          <a:xfrm>
            <a:off x="7589520" y="2331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995160" y="32461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995160" y="3611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courses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paths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4663440"/>
            <a:ext cx="8046720" cy="320040"/>
          </a:xfrm>
          <a:prstGeom prst="roundRect">
            <a:avLst>
              <a:gd name="adj" fmla="val 17143"/>
            </a:avLst>
          </a:prstGeom>
          <a:solidFill>
            <a:srgbClr val="21262D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46634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8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Prototype: parikshit7319.github.io/li-skills-prototype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66C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A6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FLOW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8-Screen Interactive Journey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08760"/>
            <a:ext cx="1920240" cy="45720"/>
          </a:xfrm>
          <a:prstGeom prst="rect">
            <a:avLst/>
          </a:prstGeom>
          <a:solidFill>
            <a:srgbClr val="0A66C2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645920"/>
            <a:ext cx="320040" cy="320040"/>
          </a:xfrm>
          <a:prstGeom prst="ellipse">
            <a:avLst/>
          </a:prstGeom>
          <a:solidFill>
            <a:srgbClr val="0A66C2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645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16459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1031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widget +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promo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68880" y="17830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697480" y="150876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697480" y="1508760"/>
            <a:ext cx="1920240" cy="45720"/>
          </a:xfrm>
          <a:prstGeom prst="rect">
            <a:avLst/>
          </a:prstGeom>
          <a:solidFill>
            <a:srgbClr val="0A66C2"/>
          </a:solidFill>
          <a:ln/>
        </p:spPr>
      </p:sp>
      <p:sp>
        <p:nvSpPr>
          <p:cNvPr id="14" name="Shape 12"/>
          <p:cNvSpPr/>
          <p:nvPr/>
        </p:nvSpPr>
        <p:spPr>
          <a:xfrm>
            <a:off x="2743200" y="1645920"/>
            <a:ext cx="320040" cy="320040"/>
          </a:xfrm>
          <a:prstGeom prst="ellipse">
            <a:avLst/>
          </a:prstGeom>
          <a:solidFill>
            <a:srgbClr val="0A66C2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0" y="1645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154680" y="16459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834640" y="21031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profile &amp;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matches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17720" y="17830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846320" y="150876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1508760"/>
            <a:ext cx="1920240" cy="45720"/>
          </a:xfrm>
          <a:prstGeom prst="rect">
            <a:avLst/>
          </a:prstGeom>
          <a:solidFill>
            <a:srgbClr val="1B8FE8"/>
          </a:solidFill>
          <a:ln/>
        </p:spPr>
      </p:sp>
      <p:sp>
        <p:nvSpPr>
          <p:cNvPr id="21" name="Shape 19"/>
          <p:cNvSpPr/>
          <p:nvPr/>
        </p:nvSpPr>
        <p:spPr>
          <a:xfrm>
            <a:off x="4892040" y="1645920"/>
            <a:ext cx="320040" cy="320040"/>
          </a:xfrm>
          <a:prstGeom prst="ellipse">
            <a:avLst/>
          </a:prstGeom>
          <a:solidFill>
            <a:srgbClr val="1B8FE8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1645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03520" y="16459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983480" y="21031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selector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intro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766560" y="17830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995160" y="150876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995160" y="1508760"/>
            <a:ext cx="1920240" cy="45720"/>
          </a:xfrm>
          <a:prstGeom prst="rect">
            <a:avLst/>
          </a:prstGeom>
          <a:solidFill>
            <a:srgbClr val="1B8FE8"/>
          </a:solidFill>
          <a:ln/>
        </p:spPr>
      </p:sp>
      <p:sp>
        <p:nvSpPr>
          <p:cNvPr id="28" name="Shape 26"/>
          <p:cNvSpPr/>
          <p:nvPr/>
        </p:nvSpPr>
        <p:spPr>
          <a:xfrm>
            <a:off x="7040880" y="1645920"/>
            <a:ext cx="320040" cy="320040"/>
          </a:xfrm>
          <a:prstGeom prst="ellipse">
            <a:avLst/>
          </a:prstGeom>
          <a:solidFill>
            <a:srgbClr val="1B8FE8"/>
          </a:solidFill>
          <a:ln/>
        </p:spPr>
      </p:sp>
      <p:sp>
        <p:nvSpPr>
          <p:cNvPr id="29" name="Text 27"/>
          <p:cNvSpPr/>
          <p:nvPr/>
        </p:nvSpPr>
        <p:spPr>
          <a:xfrm>
            <a:off x="7040880" y="1645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452360" y="16459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132320" y="21031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questions +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320040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48640" y="3200400"/>
            <a:ext cx="1920240" cy="45720"/>
          </a:xfrm>
          <a:prstGeom prst="rect">
            <a:avLst/>
          </a:prstGeom>
          <a:solidFill>
            <a:srgbClr val="057642"/>
          </a:solidFill>
          <a:ln/>
        </p:spPr>
      </p:sp>
      <p:sp>
        <p:nvSpPr>
          <p:cNvPr id="34" name="Shape 32"/>
          <p:cNvSpPr/>
          <p:nvPr/>
        </p:nvSpPr>
        <p:spPr>
          <a:xfrm>
            <a:off x="594360" y="3337560"/>
            <a:ext cx="320040" cy="320040"/>
          </a:xfrm>
          <a:prstGeom prst="ellipse">
            <a:avLst/>
          </a:prstGeom>
          <a:solidFill>
            <a:srgbClr val="057642"/>
          </a:solidFill>
          <a:ln/>
        </p:spPr>
      </p:sp>
      <p:sp>
        <p:nvSpPr>
          <p:cNvPr id="35" name="Text 33"/>
          <p:cNvSpPr/>
          <p:nvPr/>
        </p:nvSpPr>
        <p:spPr>
          <a:xfrm>
            <a:off x="594360" y="3337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005840" y="3337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85800" y="37947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Scores, radar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chart, badges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468880" y="347472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</a:rPr>
              <a:t>→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2697480" y="320040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697480" y="3200400"/>
            <a:ext cx="1920240" cy="45720"/>
          </a:xfrm>
          <a:prstGeom prst="rect">
            <a:avLst/>
          </a:prstGeom>
          <a:solidFill>
            <a:srgbClr val="057642"/>
          </a:solidFill>
          <a:ln/>
        </p:spPr>
      </p:sp>
      <p:sp>
        <p:nvSpPr>
          <p:cNvPr id="41" name="Shape 39"/>
          <p:cNvSpPr/>
          <p:nvPr/>
        </p:nvSpPr>
        <p:spPr>
          <a:xfrm>
            <a:off x="2743200" y="3337560"/>
            <a:ext cx="320040" cy="320040"/>
          </a:xfrm>
          <a:prstGeom prst="ellipse">
            <a:avLst/>
          </a:prstGeom>
          <a:solidFill>
            <a:srgbClr val="057642"/>
          </a:solidFill>
          <a:ln/>
        </p:spPr>
      </p:sp>
      <p:sp>
        <p:nvSpPr>
          <p:cNvPr id="42" name="Text 40"/>
          <p:cNvSpPr/>
          <p:nvPr/>
        </p:nvSpPr>
        <p:spPr>
          <a:xfrm>
            <a:off x="2743200" y="3337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154680" y="3337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Analysis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2834640" y="37947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Before/after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gaps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617720" y="347472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</a:rPr>
              <a:t>→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4846320" y="320040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846320" y="3200400"/>
            <a:ext cx="192024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8" name="Shape 46"/>
          <p:cNvSpPr/>
          <p:nvPr/>
        </p:nvSpPr>
        <p:spPr>
          <a:xfrm>
            <a:off x="4892040" y="3337560"/>
            <a:ext cx="320040" cy="3200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9" name="Text 47"/>
          <p:cNvSpPr/>
          <p:nvPr/>
        </p:nvSpPr>
        <p:spPr>
          <a:xfrm>
            <a:off x="4892040" y="3337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5303520" y="3337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Courses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4983480" y="37947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766560" y="347472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</a:rPr>
              <a:t>→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995160" y="320040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6995160" y="3200400"/>
            <a:ext cx="192024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5" name="Shape 53"/>
          <p:cNvSpPr/>
          <p:nvPr/>
        </p:nvSpPr>
        <p:spPr>
          <a:xfrm>
            <a:off x="7040880" y="3337560"/>
            <a:ext cx="320040" cy="3200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6" name="Text 54"/>
          <p:cNvSpPr/>
          <p:nvPr/>
        </p:nvSpPr>
        <p:spPr>
          <a:xfrm>
            <a:off x="7040880" y="3337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7452360" y="3337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7132320" y="37947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reviews, enroll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8366760" y="292608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49E"/>
                </a:solidFill>
              </a:rPr>
              <a:t>↓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66C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A6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DEEP DIVE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Skills Dashboard &amp; Job Match Scores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4114800" cy="3291840"/>
          </a:xfrm>
          <a:prstGeom prst="roundRect">
            <a:avLst>
              <a:gd name="adj" fmla="val 2778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600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Skill Profile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05740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Strategy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91840" y="20574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57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22960" y="2258568"/>
            <a:ext cx="3566160" cy="109728"/>
          </a:xfrm>
          <a:prstGeom prst="roundRect">
            <a:avLst>
              <a:gd name="adj" fmla="val 25000"/>
            </a:avLst>
          </a:prstGeom>
          <a:solidFill>
            <a:srgbClr val="21262D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" y="2258568"/>
            <a:ext cx="3138221" cy="109728"/>
          </a:xfrm>
          <a:prstGeom prst="roundRect">
            <a:avLst>
              <a:gd name="adj" fmla="val 25000"/>
            </a:avLst>
          </a:prstGeom>
          <a:solidFill>
            <a:srgbClr val="057642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46888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Research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91840" y="246888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9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22960" y="2670048"/>
            <a:ext cx="3566160" cy="109728"/>
          </a:xfrm>
          <a:prstGeom prst="roundRect">
            <a:avLst>
              <a:gd name="adj" fmla="val 25000"/>
            </a:avLst>
          </a:prstGeom>
          <a:solidFill>
            <a:srgbClr val="21262D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2670048"/>
            <a:ext cx="2318004" cy="109728"/>
          </a:xfrm>
          <a:prstGeom prst="roundRect">
            <a:avLst>
              <a:gd name="adj" fmla="val 25000"/>
            </a:avLst>
          </a:prstGeom>
          <a:solidFill>
            <a:srgbClr val="E89F17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88036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/ Data Analysis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91840" y="28803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C1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22960" y="3081528"/>
            <a:ext cx="3566160" cy="109728"/>
          </a:xfrm>
          <a:prstGeom prst="roundRect">
            <a:avLst>
              <a:gd name="adj" fmla="val 25000"/>
            </a:avLst>
          </a:prstGeom>
          <a:solidFill>
            <a:srgbClr val="21262D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081528"/>
            <a:ext cx="1248156" cy="109728"/>
          </a:xfrm>
          <a:prstGeom prst="roundRect">
            <a:avLst>
              <a:gd name="adj" fmla="val 25000"/>
            </a:avLst>
          </a:prstGeom>
          <a:solidFill>
            <a:srgbClr val="CC1016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2918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91840" y="32918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9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22960" y="3493008"/>
            <a:ext cx="3566160" cy="109728"/>
          </a:xfrm>
          <a:prstGeom prst="roundRect">
            <a:avLst>
              <a:gd name="adj" fmla="val 25000"/>
            </a:avLst>
          </a:prstGeom>
          <a:solidFill>
            <a:srgbClr val="21262D"/>
          </a:solidFill>
          <a:ln/>
        </p:spPr>
      </p:sp>
      <p:sp>
        <p:nvSpPr>
          <p:cNvPr id="22" name="Shape 20"/>
          <p:cNvSpPr/>
          <p:nvPr/>
        </p:nvSpPr>
        <p:spPr>
          <a:xfrm>
            <a:off x="822960" y="3493008"/>
            <a:ext cx="2068373" cy="109728"/>
          </a:xfrm>
          <a:prstGeom prst="roundRect">
            <a:avLst>
              <a:gd name="adj" fmla="val 25000"/>
            </a:avLst>
          </a:prstGeom>
          <a:solidFill>
            <a:srgbClr val="E89F17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370332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/ Scrum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91840" y="37033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57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22960" y="3904488"/>
            <a:ext cx="3566160" cy="109728"/>
          </a:xfrm>
          <a:prstGeom prst="roundRect">
            <a:avLst>
              <a:gd name="adj" fmla="val 25000"/>
            </a:avLst>
          </a:prstGeom>
          <a:solidFill>
            <a:srgbClr val="21262D"/>
          </a:solidFill>
          <a:ln/>
        </p:spPr>
      </p:sp>
      <p:sp>
        <p:nvSpPr>
          <p:cNvPr id="26" name="Shape 24"/>
          <p:cNvSpPr/>
          <p:nvPr/>
        </p:nvSpPr>
        <p:spPr>
          <a:xfrm>
            <a:off x="822960" y="3904488"/>
            <a:ext cx="2924251" cy="109728"/>
          </a:xfrm>
          <a:prstGeom prst="roundRect">
            <a:avLst>
              <a:gd name="adj" fmla="val 25000"/>
            </a:avLst>
          </a:prstGeom>
          <a:solidFill>
            <a:srgbClr val="057642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411480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Writing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91840" y="41148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C1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22960" y="4315968"/>
            <a:ext cx="3566160" cy="109728"/>
          </a:xfrm>
          <a:prstGeom prst="roundRect">
            <a:avLst>
              <a:gd name="adj" fmla="val 25000"/>
            </a:avLst>
          </a:prstGeom>
          <a:solidFill>
            <a:srgbClr val="21262D"/>
          </a:solidFill>
          <a:ln/>
        </p:spPr>
      </p:sp>
      <p:sp>
        <p:nvSpPr>
          <p:cNvPr id="30" name="Shape 28"/>
          <p:cNvSpPr/>
          <p:nvPr/>
        </p:nvSpPr>
        <p:spPr>
          <a:xfrm>
            <a:off x="822960" y="4315968"/>
            <a:ext cx="1069848" cy="109728"/>
          </a:xfrm>
          <a:prstGeom prst="roundRect">
            <a:avLst>
              <a:gd name="adj" fmla="val 25000"/>
            </a:avLst>
          </a:prstGeom>
          <a:solidFill>
            <a:srgbClr val="CC1016"/>
          </a:solidFill>
          <a:ln/>
        </p:spPr>
      </p:sp>
      <p:sp>
        <p:nvSpPr>
          <p:cNvPr id="31" name="Shape 29"/>
          <p:cNvSpPr/>
          <p:nvPr/>
        </p:nvSpPr>
        <p:spPr>
          <a:xfrm>
            <a:off x="4937760" y="1463040"/>
            <a:ext cx="3657600" cy="3291840"/>
          </a:xfrm>
          <a:prstGeom prst="roundRect">
            <a:avLst>
              <a:gd name="adj" fmla="val 2778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212080" y="1600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Job Matches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166360" y="210312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4285F4"/>
          </a:solidFill>
          <a:ln/>
        </p:spPr>
      </p:sp>
      <p:sp>
        <p:nvSpPr>
          <p:cNvPr id="34" name="Text 32"/>
          <p:cNvSpPr/>
          <p:nvPr/>
        </p:nvSpPr>
        <p:spPr>
          <a:xfrm>
            <a:off x="5166360" y="2103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669280" y="21031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Manager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669280" y="22860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772400" y="21031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5166360" y="278892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668E1"/>
          </a:solidFill>
          <a:ln/>
        </p:spPr>
      </p:sp>
      <p:sp>
        <p:nvSpPr>
          <p:cNvPr id="39" name="Text 37"/>
          <p:cNvSpPr/>
          <p:nvPr/>
        </p:nvSpPr>
        <p:spPr>
          <a:xfrm>
            <a:off x="5166360" y="2788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669280" y="27889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Sr. Product Analyst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669280" y="29718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772400" y="27889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5166360" y="347472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DB954"/>
          </a:solidFill>
          <a:ln/>
        </p:spPr>
      </p:sp>
      <p:sp>
        <p:nvSpPr>
          <p:cNvPr id="44" name="Text 42"/>
          <p:cNvSpPr/>
          <p:nvPr/>
        </p:nvSpPr>
        <p:spPr>
          <a:xfrm>
            <a:off x="5166360" y="3474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669280" y="34747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UX Research Lead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669280" y="36576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772400" y="34747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5166360" y="416052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635BFF"/>
          </a:solidFill>
          <a:ln/>
        </p:spPr>
      </p:sp>
      <p:sp>
        <p:nvSpPr>
          <p:cNvPr id="49" name="Text 47"/>
          <p:cNvSpPr/>
          <p:nvPr/>
        </p:nvSpPr>
        <p:spPr>
          <a:xfrm>
            <a:off x="5166360" y="4160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5669280" y="41605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PM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669280" y="43434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772400" y="41605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66C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A6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DEEP DIVE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 Assessment &amp; Radar Chart Results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4114800" cy="3200400"/>
          </a:xfrm>
          <a:prstGeom prst="roundRect">
            <a:avLst>
              <a:gd name="adj" fmla="val 2857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645920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0A66C2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45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Analysis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20574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comfortable are you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writing SQL queries?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2743200"/>
            <a:ext cx="3566160" cy="347472"/>
          </a:xfrm>
          <a:prstGeom prst="roundRect">
            <a:avLst>
              <a:gd name="adj" fmla="val 15789"/>
            </a:avLst>
          </a:prstGeom>
          <a:solidFill>
            <a:srgbClr val="0A66C2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7432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comfortable — complex queries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22960" y="3154680"/>
            <a:ext cx="3566160" cy="347472"/>
          </a:xfrm>
          <a:prstGeom prst="roundRect">
            <a:avLst>
              <a:gd name="adj" fmla="val 15789"/>
            </a:avLst>
          </a:prstGeom>
          <a:solidFill>
            <a:srgbClr val="21262D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1546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Somewhat — basic SELECT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22960" y="3566160"/>
            <a:ext cx="3566160" cy="347472"/>
          </a:xfrm>
          <a:prstGeom prst="roundRect">
            <a:avLst>
              <a:gd name="adj" fmla="val 15789"/>
            </a:avLst>
          </a:prstGeom>
          <a:solidFill>
            <a:srgbClr val="21262D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5661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concept, rarely write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22960" y="3977640"/>
            <a:ext cx="3566160" cy="347472"/>
          </a:xfrm>
          <a:prstGeom prst="roundRect">
            <a:avLst>
              <a:gd name="adj" fmla="val 15789"/>
            </a:avLst>
          </a:prstGeom>
          <a:solidFill>
            <a:srgbClr val="21262D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9776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written SQL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22960" y="4206240"/>
            <a:ext cx="3566160" cy="292608"/>
          </a:xfrm>
          <a:prstGeom prst="roundRect">
            <a:avLst>
              <a:gd name="adj" fmla="val 18750"/>
            </a:avLst>
          </a:prstGeom>
          <a:solidFill>
            <a:srgbClr val="0D3320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20624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Impressive! You're ahead of most PMs.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937760" y="1463040"/>
            <a:ext cx="3657600" cy="3200400"/>
          </a:xfrm>
          <a:prstGeom prst="roundRect">
            <a:avLst>
              <a:gd name="adj" fmla="val 2857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212080" y="1600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Results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257800" y="2103120"/>
            <a:ext cx="822960" cy="822960"/>
          </a:xfrm>
          <a:prstGeom prst="ellipse">
            <a:avLst/>
          </a:prstGeom>
          <a:solidFill>
            <a:srgbClr val="21262D"/>
          </a:solidFill>
          <a:ln w="38100">
            <a:solidFill>
              <a:srgbClr val="0576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57800" y="210312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257800" y="26060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355080" y="2103120"/>
            <a:ext cx="822960" cy="822960"/>
          </a:xfrm>
          <a:prstGeom prst="ellipse">
            <a:avLst/>
          </a:prstGeom>
          <a:solidFill>
            <a:srgbClr val="21262D"/>
          </a:solidFill>
          <a:ln w="38100">
            <a:solidFill>
              <a:srgbClr val="E89F1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210312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55080" y="26060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452360" y="2103120"/>
            <a:ext cx="822960" cy="822960"/>
          </a:xfrm>
          <a:prstGeom prst="ellipse">
            <a:avLst/>
          </a:prstGeom>
          <a:solidFill>
            <a:srgbClr val="21262D"/>
          </a:solidFill>
          <a:ln w="38100">
            <a:solidFill>
              <a:srgbClr val="E89F1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52360" y="210312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452360" y="26060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212080" y="310896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Chart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skill shape comparison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vs. Average PM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bar comparison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Confetti Celebration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Engaging micro-interaction on results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66C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A6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DEEP DIVE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Job-Skill Gap Analysis with Before/After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691640"/>
            <a:ext cx="777240" cy="274320"/>
          </a:xfrm>
          <a:prstGeom prst="roundRect">
            <a:avLst>
              <a:gd name="adj" fmla="val 20000"/>
            </a:avLst>
          </a:prstGeom>
          <a:solidFill>
            <a:srgbClr val="CC101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9164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737360" y="1691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Manager at Google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66160" y="16916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89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2194560"/>
            <a:ext cx="1691640" cy="274320"/>
          </a:xfrm>
          <a:prstGeom prst="roundRect">
            <a:avLst>
              <a:gd name="adj" fmla="val 20000"/>
            </a:avLst>
          </a:prstGeom>
          <a:solidFill>
            <a:srgbClr val="0D3320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19456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Product Strategy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651760" y="2194560"/>
            <a:ext cx="1691640" cy="274320"/>
          </a:xfrm>
          <a:prstGeom prst="roundRect">
            <a:avLst>
              <a:gd name="adj" fmla="val 20000"/>
            </a:avLst>
          </a:prstGeom>
          <a:solidFill>
            <a:srgbClr val="0D3320"/>
          </a:solidFill>
          <a:ln/>
        </p:spPr>
      </p:sp>
      <p:sp>
        <p:nvSpPr>
          <p:cNvPr id="13" name="Text 11"/>
          <p:cNvSpPr/>
          <p:nvPr/>
        </p:nvSpPr>
        <p:spPr>
          <a:xfrm>
            <a:off x="2651760" y="219456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Agile/Scrum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22960" y="2560320"/>
            <a:ext cx="1691640" cy="274320"/>
          </a:xfrm>
          <a:prstGeom prst="roundRect">
            <a:avLst>
              <a:gd name="adj" fmla="val 20000"/>
            </a:avLst>
          </a:prstGeom>
          <a:solidFill>
            <a:srgbClr val="0D3320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56032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User Research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651760" y="2560320"/>
            <a:ext cx="1691640" cy="274320"/>
          </a:xfrm>
          <a:prstGeom prst="roundRect">
            <a:avLst>
              <a:gd name="adj" fmla="val 20000"/>
            </a:avLst>
          </a:prstGeom>
          <a:solidFill>
            <a:srgbClr val="0D3320"/>
          </a:solidFill>
          <a:ln/>
        </p:spPr>
      </p:sp>
      <p:sp>
        <p:nvSpPr>
          <p:cNvPr id="17" name="Text 15"/>
          <p:cNvSpPr/>
          <p:nvPr/>
        </p:nvSpPr>
        <p:spPr>
          <a:xfrm>
            <a:off x="2651760" y="256032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Stakeholder Mgmt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22960" y="2926080"/>
            <a:ext cx="1691640" cy="274320"/>
          </a:xfrm>
          <a:prstGeom prst="roundRect">
            <a:avLst>
              <a:gd name="adj" fmla="val 20000"/>
            </a:avLst>
          </a:prstGeom>
          <a:solidFill>
            <a:srgbClr val="3D1012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292608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1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SQL / Data Analysis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651760" y="2926080"/>
            <a:ext cx="1691640" cy="274320"/>
          </a:xfrm>
          <a:prstGeom prst="roundRect">
            <a:avLst>
              <a:gd name="adj" fmla="val 20000"/>
            </a:avLst>
          </a:prstGeom>
          <a:solidFill>
            <a:srgbClr val="3D1012"/>
          </a:solidFill>
          <a:ln/>
        </p:spPr>
      </p:sp>
      <p:sp>
        <p:nvSpPr>
          <p:cNvPr id="21" name="Text 19"/>
          <p:cNvSpPr/>
          <p:nvPr/>
        </p:nvSpPr>
        <p:spPr>
          <a:xfrm>
            <a:off x="2651760" y="292608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1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Technical Writing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63440" y="150876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937760" y="1691640"/>
            <a:ext cx="1508760" cy="274320"/>
          </a:xfrm>
          <a:prstGeom prst="roundRect">
            <a:avLst>
              <a:gd name="adj" fmla="val 20000"/>
            </a:avLst>
          </a:prstGeom>
          <a:solidFill>
            <a:srgbClr val="057642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169164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PATH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583680" y="1691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Manager at Google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937760" y="2194560"/>
            <a:ext cx="1691640" cy="274320"/>
          </a:xfrm>
          <a:prstGeom prst="roundRect">
            <a:avLst>
              <a:gd name="adj" fmla="val 20000"/>
            </a:avLst>
          </a:prstGeom>
          <a:solidFill>
            <a:srgbClr val="0D3320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219456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Product Strategy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766560" y="2194560"/>
            <a:ext cx="1691640" cy="274320"/>
          </a:xfrm>
          <a:prstGeom prst="roundRect">
            <a:avLst>
              <a:gd name="adj" fmla="val 20000"/>
            </a:avLst>
          </a:prstGeom>
          <a:solidFill>
            <a:srgbClr val="0D3320"/>
          </a:solidFill>
          <a:ln/>
        </p:spPr>
      </p:sp>
      <p:sp>
        <p:nvSpPr>
          <p:cNvPr id="29" name="Text 27"/>
          <p:cNvSpPr/>
          <p:nvPr/>
        </p:nvSpPr>
        <p:spPr>
          <a:xfrm>
            <a:off x="6766560" y="219456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Agile/Scrum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937760" y="2560320"/>
            <a:ext cx="1691640" cy="274320"/>
          </a:xfrm>
          <a:prstGeom prst="roundRect">
            <a:avLst>
              <a:gd name="adj" fmla="val 20000"/>
            </a:avLst>
          </a:prstGeom>
          <a:solidFill>
            <a:srgbClr val="0D3320"/>
          </a:solidFill>
          <a:ln/>
        </p:spPr>
      </p:sp>
      <p:sp>
        <p:nvSpPr>
          <p:cNvPr id="31" name="Text 29"/>
          <p:cNvSpPr/>
          <p:nvPr/>
        </p:nvSpPr>
        <p:spPr>
          <a:xfrm>
            <a:off x="4937760" y="256032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User Research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766560" y="2560320"/>
            <a:ext cx="1691640" cy="274320"/>
          </a:xfrm>
          <a:prstGeom prst="roundRect">
            <a:avLst>
              <a:gd name="adj" fmla="val 20000"/>
            </a:avLst>
          </a:prstGeom>
          <a:solidFill>
            <a:srgbClr val="0D3320"/>
          </a:solidFill>
          <a:ln/>
        </p:spPr>
      </p:sp>
      <p:sp>
        <p:nvSpPr>
          <p:cNvPr id="33" name="Text 31"/>
          <p:cNvSpPr/>
          <p:nvPr/>
        </p:nvSpPr>
        <p:spPr>
          <a:xfrm>
            <a:off x="6766560" y="256032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Stakeholder Mgmt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937760" y="2926080"/>
            <a:ext cx="1691640" cy="274320"/>
          </a:xfrm>
          <a:prstGeom prst="roundRect">
            <a:avLst>
              <a:gd name="adj" fmla="val 20000"/>
            </a:avLst>
          </a:prstGeom>
          <a:solidFill>
            <a:srgbClr val="0D3320"/>
          </a:solidFill>
          <a:ln/>
        </p:spPr>
      </p:sp>
      <p:sp>
        <p:nvSpPr>
          <p:cNvPr id="35" name="Text 33"/>
          <p:cNvSpPr/>
          <p:nvPr/>
        </p:nvSpPr>
        <p:spPr>
          <a:xfrm>
            <a:off x="4937760" y="292608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SQL / Data Analysis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766560" y="2926080"/>
            <a:ext cx="1691640" cy="274320"/>
          </a:xfrm>
          <a:prstGeom prst="roundRect">
            <a:avLst>
              <a:gd name="adj" fmla="val 20000"/>
            </a:avLst>
          </a:prstGeom>
          <a:solidFill>
            <a:srgbClr val="0D3320"/>
          </a:solidFill>
          <a:ln/>
        </p:spPr>
      </p:sp>
      <p:sp>
        <p:nvSpPr>
          <p:cNvPr id="37" name="Text 35"/>
          <p:cNvSpPr/>
          <p:nvPr/>
        </p:nvSpPr>
        <p:spPr>
          <a:xfrm>
            <a:off x="6766560" y="292608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Technical Writing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863840" y="16916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E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206240" y="25603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A6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40" name="Shape 38"/>
          <p:cNvSpPr/>
          <p:nvPr/>
        </p:nvSpPr>
        <p:spPr>
          <a:xfrm>
            <a:off x="548640" y="4709160"/>
            <a:ext cx="8046720" cy="274320"/>
          </a:xfrm>
          <a:prstGeom prst="roundRect">
            <a:avLst>
              <a:gd name="adj" fmla="val 20000"/>
            </a:avLst>
          </a:prstGeom>
          <a:solidFill>
            <a:srgbClr val="21262D"/>
          </a:solidFill>
          <a:ln/>
        </p:spPr>
      </p:sp>
      <p:sp>
        <p:nvSpPr>
          <p:cNvPr id="41" name="Text 39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"After Learning Path" toggle lets users see the projected impact before committing to courses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66C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A6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DEEP DIVE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Personalized Courses &amp; Learning Paths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4114800" cy="1371600"/>
          </a:xfrm>
          <a:prstGeom prst="roundRect">
            <a:avLst>
              <a:gd name="adj" fmla="val 5333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600200"/>
            <a:ext cx="914400" cy="1097280"/>
          </a:xfrm>
          <a:prstGeom prst="roundRect">
            <a:avLst>
              <a:gd name="adj" fmla="val 6000"/>
            </a:avLst>
          </a:prstGeom>
          <a:solidFill>
            <a:srgbClr val="1A73E8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600200"/>
            <a:ext cx="914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737360" y="16459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for Product Managers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737360" y="19202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Sarah Mitchell • 4h 30m • ⭐ 4.8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737360" y="2194560"/>
            <a:ext cx="2286000" cy="201168"/>
          </a:xfrm>
          <a:prstGeom prst="roundRect">
            <a:avLst>
              <a:gd name="adj" fmla="val 18182"/>
            </a:avLst>
          </a:prstGeom>
          <a:solidFill>
            <a:srgbClr val="0D3320"/>
          </a:solidFill>
          <a:ln/>
        </p:spPr>
      </p:sp>
      <p:sp>
        <p:nvSpPr>
          <p:cNvPr id="11" name="Text 9"/>
          <p:cNvSpPr/>
          <p:nvPr/>
        </p:nvSpPr>
        <p:spPr>
          <a:xfrm>
            <a:off x="1737360" y="219456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+15% job match for PM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737360" y="246888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 M. and 11 others completed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3017520"/>
            <a:ext cx="4114800" cy="1645920"/>
          </a:xfrm>
          <a:prstGeom prst="roundRect">
            <a:avLst>
              <a:gd name="adj" fmla="val 4444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017520"/>
            <a:ext cx="54864" cy="1645920"/>
          </a:xfrm>
          <a:prstGeom prst="rect">
            <a:avLst/>
          </a:prstGeom>
          <a:solidFill>
            <a:srgbClr val="0A66C2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108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PM Career Accelerator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566160" y="3154680"/>
            <a:ext cx="914400" cy="228600"/>
          </a:xfrm>
          <a:prstGeom prst="roundRect">
            <a:avLst>
              <a:gd name="adj" fmla="val 20000"/>
            </a:avLst>
          </a:prstGeom>
          <a:solidFill>
            <a:srgbClr val="0D3320"/>
          </a:solidFill>
          <a:ln/>
        </p:spPr>
      </p:sp>
      <p:sp>
        <p:nvSpPr>
          <p:cNvPr id="17" name="Text 15"/>
          <p:cNvSpPr/>
          <p:nvPr/>
        </p:nvSpPr>
        <p:spPr>
          <a:xfrm>
            <a:off x="3566160" y="3154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you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77240" y="34290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courses • 16 hours • Certificate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77240" y="3749040"/>
            <a:ext cx="868680" cy="594360"/>
          </a:xfrm>
          <a:prstGeom prst="roundRect">
            <a:avLst>
              <a:gd name="adj" fmla="val 9231"/>
            </a:avLst>
          </a:prstGeom>
          <a:solidFill>
            <a:srgbClr val="21262D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749040"/>
            <a:ext cx="868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SQL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737360" y="3749040"/>
            <a:ext cx="868680" cy="594360"/>
          </a:xfrm>
          <a:prstGeom prst="roundRect">
            <a:avLst>
              <a:gd name="adj" fmla="val 9231"/>
            </a:avLst>
          </a:prstGeom>
          <a:solidFill>
            <a:srgbClr val="21262D"/>
          </a:solidFill>
          <a:ln/>
        </p:spPr>
      </p:sp>
      <p:sp>
        <p:nvSpPr>
          <p:cNvPr id="22" name="Text 20"/>
          <p:cNvSpPr/>
          <p:nvPr/>
        </p:nvSpPr>
        <p:spPr>
          <a:xfrm>
            <a:off x="1737360" y="3749040"/>
            <a:ext cx="868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A/B Test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697480" y="3749040"/>
            <a:ext cx="868680" cy="594360"/>
          </a:xfrm>
          <a:prstGeom prst="roundRect">
            <a:avLst>
              <a:gd name="adj" fmla="val 9231"/>
            </a:avLst>
          </a:prstGeom>
          <a:solidFill>
            <a:srgbClr val="21262D"/>
          </a:solidFill>
          <a:ln/>
        </p:spPr>
      </p:sp>
      <p:sp>
        <p:nvSpPr>
          <p:cNvPr id="24" name="Text 22"/>
          <p:cNvSpPr/>
          <p:nvPr/>
        </p:nvSpPr>
        <p:spPr>
          <a:xfrm>
            <a:off x="2697480" y="3749040"/>
            <a:ext cx="868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Writing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0" y="3749040"/>
            <a:ext cx="868680" cy="594360"/>
          </a:xfrm>
          <a:prstGeom prst="roundRect">
            <a:avLst>
              <a:gd name="adj" fmla="val 9231"/>
            </a:avLst>
          </a:prstGeom>
          <a:solidFill>
            <a:srgbClr val="21262D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0" y="3749040"/>
            <a:ext cx="868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Strategy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77240" y="44348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8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3 skill gaps  •  +25% avg job match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937760" y="1463040"/>
            <a:ext cx="3657600" cy="3200400"/>
          </a:xfrm>
          <a:prstGeom prst="roundRect">
            <a:avLst>
              <a:gd name="adj" fmla="val 2857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212080" y="1600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Works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212080" y="2121408"/>
            <a:ext cx="274320" cy="274320"/>
          </a:xfrm>
          <a:prstGeom prst="ellipse">
            <a:avLst/>
          </a:prstGeom>
          <a:solidFill>
            <a:srgbClr val="0A66C2"/>
          </a:solidFill>
          <a:ln/>
        </p:spPr>
      </p:sp>
      <p:sp>
        <p:nvSpPr>
          <p:cNvPr id="31" name="Text 29"/>
          <p:cNvSpPr/>
          <p:nvPr/>
        </p:nvSpPr>
        <p:spPr>
          <a:xfrm>
            <a:off x="5212080" y="21214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623560" y="21031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Job-Tied Relevance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623560" y="23317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+15% match scores show direct career impact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212080" y="2761488"/>
            <a:ext cx="274320" cy="274320"/>
          </a:xfrm>
          <a:prstGeom prst="ellipse">
            <a:avLst/>
          </a:prstGeom>
          <a:solidFill>
            <a:srgbClr val="0A66C2"/>
          </a:solidFill>
          <a:ln/>
        </p:spPr>
      </p:sp>
      <p:sp>
        <p:nvSpPr>
          <p:cNvPr id="35" name="Text 33"/>
          <p:cNvSpPr/>
          <p:nvPr/>
        </p:nvSpPr>
        <p:spPr>
          <a:xfrm>
            <a:off x="5212080" y="27614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623560" y="27432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Proof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623560" y="2971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"Sarah M. and 11 others" drives trust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212080" y="3401568"/>
            <a:ext cx="274320" cy="274320"/>
          </a:xfrm>
          <a:prstGeom prst="ellipse">
            <a:avLst/>
          </a:prstGeom>
          <a:solidFill>
            <a:srgbClr val="0A66C2"/>
          </a:solidFill>
          <a:ln/>
        </p:spPr>
      </p:sp>
      <p:sp>
        <p:nvSpPr>
          <p:cNvPr id="39" name="Text 37"/>
          <p:cNvSpPr/>
          <p:nvPr/>
        </p:nvSpPr>
        <p:spPr>
          <a:xfrm>
            <a:off x="5212080" y="34015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623560" y="33832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Bundled Journeys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623560" y="3611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paths &gt; individual courses for retention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212080" y="4041648"/>
            <a:ext cx="274320" cy="274320"/>
          </a:xfrm>
          <a:prstGeom prst="ellipse">
            <a:avLst/>
          </a:prstGeom>
          <a:solidFill>
            <a:srgbClr val="0A66C2"/>
          </a:solidFill>
          <a:ln/>
        </p:spPr>
      </p:sp>
      <p:sp>
        <p:nvSpPr>
          <p:cNvPr id="43" name="Text 41"/>
          <p:cNvSpPr/>
          <p:nvPr/>
        </p:nvSpPr>
        <p:spPr>
          <a:xfrm>
            <a:off x="5212080" y="40416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623560" y="4023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Completion Simulator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623560" y="4251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projected scores before committing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66C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A6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TESTING RESULTS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learned from testing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63040"/>
            <a:ext cx="1920240" cy="45720"/>
          </a:xfrm>
          <a:prstGeom prst="rect">
            <a:avLst/>
          </a:prstGeom>
          <a:solidFill>
            <a:srgbClr val="05764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544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57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9/10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21945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Usefulness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97480" y="146304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97480" y="1463040"/>
            <a:ext cx="1920240" cy="45720"/>
          </a:xfrm>
          <a:prstGeom prst="rect">
            <a:avLst/>
          </a:prstGeom>
          <a:solidFill>
            <a:srgbClr val="0A66C2"/>
          </a:solidFill>
          <a:ln/>
        </p:spPr>
      </p:sp>
      <p:sp>
        <p:nvSpPr>
          <p:cNvPr id="11" name="Text 9"/>
          <p:cNvSpPr/>
          <p:nvPr/>
        </p:nvSpPr>
        <p:spPr>
          <a:xfrm>
            <a:off x="2697480" y="15544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A6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697480" y="21945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146304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1463040"/>
            <a:ext cx="1920240" cy="45720"/>
          </a:xfrm>
          <a:prstGeom prst="rect">
            <a:avLst/>
          </a:prstGeom>
          <a:solidFill>
            <a:srgbClr val="1B8FE8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5544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8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846320" y="21945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use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 Learning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95160" y="146304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995160" y="1463040"/>
            <a:ext cx="192024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6995160" y="15544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8.5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995160" y="21945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Promoter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2971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3383280"/>
            <a:ext cx="8046720" cy="292608"/>
          </a:xfrm>
          <a:prstGeom prst="roundRect">
            <a:avLst>
              <a:gd name="adj" fmla="val 15625"/>
            </a:avLst>
          </a:prstGeom>
          <a:solidFill>
            <a:srgbClr val="161B22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3383280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7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05840" y="3383280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noticed the Skills widget without prompting in 6/8 interviews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3730752"/>
            <a:ext cx="8046720" cy="292608"/>
          </a:xfrm>
          <a:prstGeom prst="roundRect">
            <a:avLst>
              <a:gd name="adj" fmla="val 15625"/>
            </a:avLst>
          </a:prstGeom>
          <a:solidFill>
            <a:srgbClr val="161B22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3730752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7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05840" y="3730752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match % was the #1 cited motivator to take courses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4078224"/>
            <a:ext cx="8046720" cy="292608"/>
          </a:xfrm>
          <a:prstGeom prst="roundRect">
            <a:avLst>
              <a:gd name="adj" fmla="val 15625"/>
            </a:avLst>
          </a:prstGeom>
          <a:solidFill>
            <a:srgbClr val="161B22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4078224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7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05840" y="4078224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"Before/After" toggle was the most praised feature — sells the value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4425696"/>
            <a:ext cx="8046720" cy="292608"/>
          </a:xfrm>
          <a:prstGeom prst="roundRect">
            <a:avLst>
              <a:gd name="adj" fmla="val 15625"/>
            </a:avLst>
          </a:prstGeom>
          <a:solidFill>
            <a:srgbClr val="161B22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" y="442569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8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05840" y="4425696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wanted to share results on their profile and with their network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48640" y="4773168"/>
            <a:ext cx="8046720" cy="292608"/>
          </a:xfrm>
          <a:prstGeom prst="roundRect">
            <a:avLst>
              <a:gd name="adj" fmla="val 15625"/>
            </a:avLst>
          </a:prstGeom>
          <a:solidFill>
            <a:srgbClr val="161B22"/>
          </a:solidFill>
          <a:ln/>
        </p:spPr>
      </p:sp>
      <p:sp>
        <p:nvSpPr>
          <p:cNvPr id="35" name="Text 33"/>
          <p:cNvSpPr/>
          <p:nvPr/>
        </p:nvSpPr>
        <p:spPr>
          <a:xfrm>
            <a:off x="685800" y="4773168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8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005840" y="4773168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Paths preferred over individual courses (bundled = higher intent)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66C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A6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METRICS &amp; IMPACT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Measuring what matters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8046720" cy="822960"/>
          </a:xfrm>
          <a:prstGeom prst="roundRect">
            <a:avLst>
              <a:gd name="adj" fmla="val 8889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17320"/>
            <a:ext cx="8046720" cy="45720"/>
          </a:xfrm>
          <a:prstGeom prst="rect">
            <a:avLst/>
          </a:prstGeom>
          <a:solidFill>
            <a:srgbClr val="0A66C2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508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6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Star Metric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78308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Increase LinkedIn Learning monthly active users by 40% through personalized skill-job matching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2606040" cy="2468880"/>
          </a:xfrm>
          <a:prstGeom prst="roundRect">
            <a:avLst>
              <a:gd name="adj" fmla="val 2963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468880"/>
            <a:ext cx="2606040" cy="45720"/>
          </a:xfrm>
          <a:prstGeom prst="rect">
            <a:avLst/>
          </a:prstGeom>
          <a:solidFill>
            <a:srgbClr val="0A66C2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6060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Awareness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5800" y="3017520"/>
            <a:ext cx="2331720" cy="384048"/>
          </a:xfrm>
          <a:prstGeom prst="roundRect">
            <a:avLst>
              <a:gd name="adj" fmla="val 14286"/>
            </a:avLst>
          </a:prstGeom>
          <a:solidFill>
            <a:srgbClr val="21262D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01752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 Learning impressions +60%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5800" y="3520440"/>
            <a:ext cx="2331720" cy="384048"/>
          </a:xfrm>
          <a:prstGeom prst="roundRect">
            <a:avLst>
              <a:gd name="adj" fmla="val 14286"/>
            </a:avLst>
          </a:prstGeom>
          <a:solidFill>
            <a:srgbClr val="21262D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52044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widget CTR: 12%+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5800" y="4023360"/>
            <a:ext cx="2331720" cy="384048"/>
          </a:xfrm>
          <a:prstGeom prst="roundRect">
            <a:avLst>
              <a:gd name="adj" fmla="val 14286"/>
            </a:avLst>
          </a:prstGeom>
          <a:solidFill>
            <a:srgbClr val="21262D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02336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promo engagement: 8%+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383280" y="2468880"/>
            <a:ext cx="2606040" cy="2468880"/>
          </a:xfrm>
          <a:prstGeom prst="roundRect">
            <a:avLst>
              <a:gd name="adj" fmla="val 2963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383280" y="2468880"/>
            <a:ext cx="2606040" cy="45720"/>
          </a:xfrm>
          <a:prstGeom prst="rect">
            <a:avLst/>
          </a:prstGeom>
          <a:solidFill>
            <a:srgbClr val="057642"/>
          </a:solidFill>
          <a:ln/>
        </p:spPr>
      </p:sp>
      <p:sp>
        <p:nvSpPr>
          <p:cNvPr id="20" name="Text 18"/>
          <p:cNvSpPr/>
          <p:nvPr/>
        </p:nvSpPr>
        <p:spPr>
          <a:xfrm>
            <a:off x="3566160" y="26060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520440" y="3017520"/>
            <a:ext cx="2331720" cy="384048"/>
          </a:xfrm>
          <a:prstGeom prst="roundRect">
            <a:avLst>
              <a:gd name="adj" fmla="val 14286"/>
            </a:avLst>
          </a:prstGeom>
          <a:solidFill>
            <a:srgbClr val="21262D"/>
          </a:solidFill>
          <a:ln/>
        </p:spPr>
      </p:sp>
      <p:sp>
        <p:nvSpPr>
          <p:cNvPr id="22" name="Text 20"/>
          <p:cNvSpPr/>
          <p:nvPr/>
        </p:nvSpPr>
        <p:spPr>
          <a:xfrm>
            <a:off x="3520440" y="301752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completion: 75%+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520440" y="3520440"/>
            <a:ext cx="2331720" cy="384048"/>
          </a:xfrm>
          <a:prstGeom prst="roundRect">
            <a:avLst>
              <a:gd name="adj" fmla="val 14286"/>
            </a:avLst>
          </a:prstGeom>
          <a:solidFill>
            <a:srgbClr val="21262D"/>
          </a:solidFill>
          <a:ln/>
        </p:spPr>
      </p:sp>
      <p:sp>
        <p:nvSpPr>
          <p:cNvPr id="24" name="Text 22"/>
          <p:cNvSpPr/>
          <p:nvPr/>
        </p:nvSpPr>
        <p:spPr>
          <a:xfrm>
            <a:off x="3520440" y="352044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enrollment: 25%+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520440" y="4023360"/>
            <a:ext cx="2331720" cy="384048"/>
          </a:xfrm>
          <a:prstGeom prst="roundRect">
            <a:avLst>
              <a:gd name="adj" fmla="val 14286"/>
            </a:avLst>
          </a:prstGeom>
          <a:solidFill>
            <a:srgbClr val="21262D"/>
          </a:solidFill>
          <a:ln/>
        </p:spPr>
      </p:sp>
      <p:sp>
        <p:nvSpPr>
          <p:cNvPr id="26" name="Text 24"/>
          <p:cNvSpPr/>
          <p:nvPr/>
        </p:nvSpPr>
        <p:spPr>
          <a:xfrm>
            <a:off x="3520440" y="402336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Path starts: 15%+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17920" y="2468880"/>
            <a:ext cx="2606040" cy="2468880"/>
          </a:xfrm>
          <a:prstGeom prst="roundRect">
            <a:avLst>
              <a:gd name="adj" fmla="val 2963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17920" y="2468880"/>
            <a:ext cx="260604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0" y="26060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355080" y="3017520"/>
            <a:ext cx="2331720" cy="384048"/>
          </a:xfrm>
          <a:prstGeom prst="roundRect">
            <a:avLst>
              <a:gd name="adj" fmla="val 14286"/>
            </a:avLst>
          </a:prstGeom>
          <a:solidFill>
            <a:srgbClr val="21262D"/>
          </a:solidFill>
          <a:ln/>
        </p:spPr>
      </p:sp>
      <p:sp>
        <p:nvSpPr>
          <p:cNvPr id="31" name="Text 29"/>
          <p:cNvSpPr/>
          <p:nvPr/>
        </p:nvSpPr>
        <p:spPr>
          <a:xfrm>
            <a:off x="6355080" y="301752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completion rate: 45%+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355080" y="3520440"/>
            <a:ext cx="2331720" cy="384048"/>
          </a:xfrm>
          <a:prstGeom prst="roundRect">
            <a:avLst>
              <a:gd name="adj" fmla="val 14286"/>
            </a:avLst>
          </a:prstGeom>
          <a:solidFill>
            <a:srgbClr val="21262D"/>
          </a:solidFill>
          <a:ln/>
        </p:spPr>
      </p:sp>
      <p:sp>
        <p:nvSpPr>
          <p:cNvPr id="33" name="Text 31"/>
          <p:cNvSpPr/>
          <p:nvPr/>
        </p:nvSpPr>
        <p:spPr>
          <a:xfrm>
            <a:off x="6355080" y="352044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visits within 7 days: 35%+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355080" y="4023360"/>
            <a:ext cx="2331720" cy="384048"/>
          </a:xfrm>
          <a:prstGeom prst="roundRect">
            <a:avLst>
              <a:gd name="adj" fmla="val 14286"/>
            </a:avLst>
          </a:prstGeom>
          <a:solidFill>
            <a:srgbClr val="21262D"/>
          </a:solidFill>
          <a:ln/>
        </p:spPr>
      </p:sp>
      <p:sp>
        <p:nvSpPr>
          <p:cNvPr id="35" name="Text 33"/>
          <p:cNvSpPr/>
          <p:nvPr/>
        </p:nvSpPr>
        <p:spPr>
          <a:xfrm>
            <a:off x="6355080" y="402336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re-assessment: 20%+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66C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A66C2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0" y="640080"/>
            <a:ext cx="1828800" cy="1828800"/>
          </a:xfrm>
          <a:prstGeom prst="ellipse">
            <a:avLst/>
          </a:prstGeom>
          <a:solidFill>
            <a:srgbClr val="0A66C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0" y="64008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Questions &amp; Live Demo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286000" y="3794760"/>
            <a:ext cx="4572000" cy="640080"/>
          </a:xfrm>
          <a:prstGeom prst="roundRect">
            <a:avLst>
              <a:gd name="adj" fmla="val 14286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0" y="3794760"/>
            <a:ext cx="4572000" cy="45720"/>
          </a:xfrm>
          <a:prstGeom prst="rect">
            <a:avLst/>
          </a:prstGeom>
          <a:solidFill>
            <a:srgbClr val="0A66C2"/>
          </a:solidFill>
          <a:ln/>
        </p:spPr>
      </p:sp>
      <p:sp>
        <p:nvSpPr>
          <p:cNvPr id="10" name="Text 8"/>
          <p:cNvSpPr/>
          <p:nvPr/>
        </p:nvSpPr>
        <p:spPr>
          <a:xfrm>
            <a:off x="2286000" y="3840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the Live Prototype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86000" y="4114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8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parikshit7319.github.io/li-skills-prototype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45720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 Dy  |  Tung Le  |  Parikshit Ambhore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LinkedIn Skills - Tech Product Management</dc:title>
  <dc:subject>PptxGenJS Presentation</dc:subject>
  <dc:creator>Parikshit Ambhore, LC Dy, Tung Le</dc:creator>
  <cp:lastModifiedBy>Parikshit Ambhore, LC Dy, Tung Le</cp:lastModifiedBy>
  <cp:revision>1</cp:revision>
  <dcterms:created xsi:type="dcterms:W3CDTF">2026-04-19T23:43:28Z</dcterms:created>
  <dcterms:modified xsi:type="dcterms:W3CDTF">2026-04-19T23:43:28Z</dcterms:modified>
</cp:coreProperties>
</file>