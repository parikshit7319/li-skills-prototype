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DF448-B216-9CE7-EDB1-57D6CB40E858}" v="137" dt="2026-04-06T21:49:22.697"/>
    <p1510:client id="{DFE92FF9-FCCC-4BA8-8070-528A0FF68C3D}" v="284" dt="2026-04-06T22:00:02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A52A0-5709-C50A-52D2-82713F2E7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E9634-B77C-AD23-EB01-EAF3667D9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96AE3-B469-DE1A-EBF1-9EF52425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5A069-4512-22D2-04FE-31EECB0D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8F64F-73C6-6C77-9AB0-A27F8030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3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523E-D58D-16CD-316F-47BFF3D9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C5B40-C431-0CBD-28AD-90D11E325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2D0CA-C962-163A-343D-E39A6638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9A785-4190-4317-5B33-2ECB3738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21FBA-6D26-102B-E996-6459A5759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3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4110-C440-2F10-B334-AAF123A1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CC449-CE81-6B70-058C-C97C59F37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358D7-93CC-09F9-E5C0-C66A6384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B9C96-D100-2CF0-D1F0-E062007F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D83D4-BE55-0812-401D-66DEDAA8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7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D9C44-3AF8-7C9B-08AE-3D416D49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AC134-663D-A9C6-5DD3-CDC9E73C8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4FFA9-9573-6575-6C8A-ECDDB8201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851F5-B513-D2F4-14E6-CA173CC99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DA52B-3EF8-0474-4328-F619EF9B3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49E69-4E80-750B-77FF-5E5931C5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9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0D06A-4A5A-2A4E-6889-E6391477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9A67D-8B8B-069D-63AF-AEFBFACF0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F8618-9064-14EB-9F96-1A73B5D6D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A98C3E-2C63-C31D-300D-AA0506B89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D6114-FBA2-D6AF-B688-9A4889FCE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B139F-8A68-7EF9-8701-0CE79562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E6E4A-B29C-CF87-B90F-11001DE76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D2DCE-0638-89DC-AC30-136C8460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7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038E1-C7A5-84C2-C649-CCB1BF37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8469F-AEC2-0921-3E63-EC45E1CE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3ACAD-F287-C553-FDD9-2A0B8F71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68A47-8CD5-37E5-8660-B9380117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5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B1149E-A258-20D1-3635-DBDDA1775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26487-4D25-32A4-1ECA-E5438CE0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369F9-34A5-029E-1B77-0C55EF74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75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3D85E-33FD-1F50-3BB0-AA5CB4D5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1C6BD-4333-528C-3138-BA1392061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5CDB4-E7AF-AE55-9856-0C1FCFD38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4E8BD-0C10-8FBA-8473-09F1E2BB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2DC84-8A31-E898-E3AF-AAF2CDFB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F0071-0305-A602-5E90-B0D1C23B8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82FA8-1235-B90F-C357-A29C432B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08543-BBE9-0B88-A1B1-C425263405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C5276-C609-EDA6-8F74-CB118C705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35D84-A079-4435-0524-7D289B814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7E2A4-03F1-694F-87DA-4995C00B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54CA2-2FAF-56F6-2CC5-2C198A4B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99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3DCD-D5EC-1AD0-42AE-4F8E0E40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A3319-0B6C-5393-76C3-A49C90A20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CD03-6D3E-EFD6-76A4-CDD6E0C5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C82CF-2CA4-91FE-5A19-C34C92D53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A0FF-709A-78B9-CC4A-54E49E48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43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000FFB-63F1-9CF1-900B-5A4C3826B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9E1AD-B49E-9567-CD79-79C8F1D7E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310A8-5AE1-5682-550C-7A44BB86F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43E6E-1F65-536F-3DD0-780550BD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6CE44-32BC-506F-B87C-8F1831EC9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69D01-22D4-C686-AC27-0451A32B7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D4ECD-AD2E-C0F7-CC69-F92B1EFEE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C71B1-2C4A-FD88-3043-1F51D5CFA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286731-0724-4CF3-8236-45D8CEA4663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3826D-35C5-96E6-5689-A2379BE28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BDA9-94B8-3A45-FC9E-E598D3F0F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2C6EEF-D5A1-4FC2-BAC6-58FFF479E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CC194-85F3-F33C-5C98-BCBD695E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2651125"/>
            <a:ext cx="10515600" cy="1325563"/>
          </a:xfrm>
        </p:spPr>
        <p:txBody>
          <a:bodyPr/>
          <a:lstStyle/>
          <a:p>
            <a:r>
              <a:rPr lang="en-US" dirty="0"/>
              <a:t>Impact vs. Effort Map and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C33F4-2CA3-F195-CD79-2F12B1172807}"/>
              </a:ext>
            </a:extLst>
          </p:cNvPr>
          <p:cNvSpPr txBox="1"/>
          <p:nvPr/>
        </p:nvSpPr>
        <p:spPr>
          <a:xfrm>
            <a:off x="971550" y="4329113"/>
            <a:ext cx="4643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LC Dy</a:t>
            </a:r>
          </a:p>
          <a:p>
            <a:r>
              <a:rPr lang="en-US" sz="2400"/>
              <a:t>Tung Le</a:t>
            </a:r>
          </a:p>
          <a:p>
            <a:r>
              <a:rPr lang="en-US" sz="2400"/>
              <a:t>Parikshit </a:t>
            </a:r>
            <a:r>
              <a:rPr lang="en-US" sz="2400" err="1"/>
              <a:t>Ambhore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55349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5221F68-2122-C74D-0BCE-7820445314A6}"/>
              </a:ext>
            </a:extLst>
          </p:cNvPr>
          <p:cNvCxnSpPr>
            <a:cxnSpLocks/>
          </p:cNvCxnSpPr>
          <p:nvPr/>
        </p:nvCxnSpPr>
        <p:spPr>
          <a:xfrm flipV="1">
            <a:off x="1324276" y="344129"/>
            <a:ext cx="13704" cy="5850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C6A11F-FE6A-843A-F1E6-8053F3A07686}"/>
              </a:ext>
            </a:extLst>
          </p:cNvPr>
          <p:cNvCxnSpPr>
            <a:cxnSpLocks/>
          </p:cNvCxnSpPr>
          <p:nvPr/>
        </p:nvCxnSpPr>
        <p:spPr>
          <a:xfrm>
            <a:off x="1324276" y="6194322"/>
            <a:ext cx="8802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40B4B52-6946-D577-3AC4-7094884E3754}"/>
              </a:ext>
            </a:extLst>
          </p:cNvPr>
          <p:cNvSpPr txBox="1"/>
          <p:nvPr/>
        </p:nvSpPr>
        <p:spPr>
          <a:xfrm>
            <a:off x="196645" y="1868129"/>
            <a:ext cx="88614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/>
              <a:t>Effort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1D1A64-BD96-BF35-1BDB-94077084BEA8}"/>
              </a:ext>
            </a:extLst>
          </p:cNvPr>
          <p:cNvSpPr txBox="1"/>
          <p:nvPr/>
        </p:nvSpPr>
        <p:spPr>
          <a:xfrm>
            <a:off x="5203101" y="6336890"/>
            <a:ext cx="11594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/>
              <a:t>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08EB63-2097-1FE5-3381-A5821B2ED52E}"/>
              </a:ext>
            </a:extLst>
          </p:cNvPr>
          <p:cNvSpPr txBox="1"/>
          <p:nvPr/>
        </p:nvSpPr>
        <p:spPr>
          <a:xfrm>
            <a:off x="1418324" y="4275460"/>
            <a:ext cx="129540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cost comparison page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6028A4-69EE-D053-73E2-897F7680F268}"/>
              </a:ext>
            </a:extLst>
          </p:cNvPr>
          <p:cNvSpPr txBox="1"/>
          <p:nvPr/>
        </p:nvSpPr>
        <p:spPr>
          <a:xfrm>
            <a:off x="4936570" y="4506293"/>
            <a:ext cx="1425961" cy="9002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'Which plan is right for you?' quiz that asks 3–4 questions and recommends a plan</a:t>
            </a:r>
            <a:endParaRPr lang="en-US" sz="10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3BC5F-4418-8ED2-A767-A579108668FB}"/>
              </a:ext>
            </a:extLst>
          </p:cNvPr>
          <p:cNvSpPr txBox="1"/>
          <p:nvPr/>
        </p:nvSpPr>
        <p:spPr>
          <a:xfrm>
            <a:off x="2842260" y="3909908"/>
            <a:ext cx="158967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dynamic cost calculator (monthly vs annual pricing)</a:t>
            </a:r>
            <a:endParaRPr lang="en-US" sz="1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48A689-8E01-A20A-9626-61DD6E796D2F}"/>
              </a:ext>
            </a:extLst>
          </p:cNvPr>
          <p:cNvSpPr txBox="1"/>
          <p:nvPr/>
        </p:nvSpPr>
        <p:spPr>
          <a:xfrm>
            <a:off x="1587401" y="5176602"/>
            <a:ext cx="1420740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a post-course 'Did you learn this?' self-assessment </a:t>
            </a:r>
          </a:p>
          <a:p>
            <a:pPr marL="0" indent="0" algn="l">
              <a:buNone/>
            </a:pPr>
            <a:endParaRPr lang="en-US" sz="120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2BFB4-7637-C010-F7FD-3EEB4A920E3D}"/>
              </a:ext>
            </a:extLst>
          </p:cNvPr>
          <p:cNvSpPr txBox="1"/>
          <p:nvPr/>
        </p:nvSpPr>
        <p:spPr>
          <a:xfrm>
            <a:off x="3264042" y="5387381"/>
            <a:ext cx="1589673" cy="6771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Add a skill confidence tracker </a:t>
            </a:r>
          </a:p>
          <a:p>
            <a:pPr marL="0" indent="0" algn="l">
              <a:buNone/>
            </a:pPr>
            <a:endParaRPr lang="en-US" sz="120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448462-1AC6-7387-1678-2C4A83F58659}"/>
              </a:ext>
            </a:extLst>
          </p:cNvPr>
          <p:cNvSpPr txBox="1"/>
          <p:nvPr/>
        </p:nvSpPr>
        <p:spPr>
          <a:xfrm>
            <a:off x="7739110" y="1783361"/>
            <a:ext cx="1842336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personalized banner to Free users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courses they're missing access to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8F414-5FDF-DB60-8404-F2F5DACD731B}"/>
              </a:ext>
            </a:extLst>
          </p:cNvPr>
          <p:cNvSpPr txBox="1"/>
          <p:nvPr/>
        </p:nvSpPr>
        <p:spPr>
          <a:xfrm>
            <a:off x="8610393" y="3631851"/>
            <a:ext cx="1589673" cy="6771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Create a 'Learning Streak'</a:t>
            </a:r>
          </a:p>
          <a:p>
            <a:pPr marL="0" indent="0" algn="l">
              <a:buNone/>
            </a:pPr>
            <a:endParaRPr lang="en-US" sz="120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4F4B02-BF22-ADFE-55A1-2A29ABC24D4C}"/>
              </a:ext>
            </a:extLst>
          </p:cNvPr>
          <p:cNvSpPr txBox="1"/>
          <p:nvPr/>
        </p:nvSpPr>
        <p:spPr>
          <a:xfrm>
            <a:off x="8193227" y="2694033"/>
            <a:ext cx="1884446" cy="76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trigger that shows the upgrade prompt only after a Free user hits a locked course twice</a:t>
            </a:r>
            <a:endParaRPr lang="en-US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CEFD9E-C613-9853-8E7C-2ACDEFAEF749}"/>
              </a:ext>
            </a:extLst>
          </p:cNvPr>
          <p:cNvSpPr txBox="1"/>
          <p:nvPr/>
        </p:nvSpPr>
        <p:spPr>
          <a:xfrm>
            <a:off x="3156786" y="3244334"/>
            <a:ext cx="1884446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market insight panel for each platform</a:t>
            </a:r>
            <a:endParaRPr lang="en-US" sz="1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EFFF8-8C57-24AA-7EB3-93A7FA6E5507}"/>
              </a:ext>
            </a:extLst>
          </p:cNvPr>
          <p:cNvSpPr txBox="1"/>
          <p:nvPr/>
        </p:nvSpPr>
        <p:spPr>
          <a:xfrm>
            <a:off x="9478911" y="5029032"/>
            <a:ext cx="1589673" cy="6924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a portfolio-style '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SkillsGained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' section 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22DF2E-1D09-FDCB-EBD5-70200F3600EA}"/>
              </a:ext>
            </a:extLst>
          </p:cNvPr>
          <p:cNvSpPr txBox="1"/>
          <p:nvPr/>
        </p:nvSpPr>
        <p:spPr>
          <a:xfrm>
            <a:off x="4560469" y="3769030"/>
            <a:ext cx="1535531" cy="6001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Pro/Con list for each competing platform</a:t>
            </a:r>
            <a:endParaRPr lang="en-US" sz="11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857A12-F454-2D31-9DD1-7D49EE03C685}"/>
              </a:ext>
            </a:extLst>
          </p:cNvPr>
          <p:cNvSpPr txBox="1"/>
          <p:nvPr/>
        </p:nvSpPr>
        <p:spPr>
          <a:xfrm>
            <a:off x="6048407" y="1806619"/>
            <a:ext cx="1433718" cy="6001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personalized recommendation engine for courses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F8EF5-FDCE-1193-40BF-3B9163F5AB7F}"/>
              </a:ext>
            </a:extLst>
          </p:cNvPr>
          <p:cNvSpPr txBox="1"/>
          <p:nvPr/>
        </p:nvSpPr>
        <p:spPr>
          <a:xfrm>
            <a:off x="10110424" y="3171498"/>
            <a:ext cx="1119026" cy="6771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Add peer validation</a:t>
            </a:r>
            <a:endParaRPr lang="en-US"/>
          </a:p>
          <a:p>
            <a:pPr marL="0" indent="0" algn="l">
              <a:buNone/>
            </a:pPr>
            <a:endParaRPr lang="en-US" sz="120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71514B-9265-44A2-D6B1-79666D04919C}"/>
              </a:ext>
            </a:extLst>
          </p:cNvPr>
          <p:cNvSpPr txBox="1"/>
          <p:nvPr/>
        </p:nvSpPr>
        <p:spPr>
          <a:xfrm>
            <a:off x="1619183" y="3046077"/>
            <a:ext cx="1288182" cy="6001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 vs. Coursera) side-by-side dashboard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4F5E26-9708-7645-A823-FC4BAF783877}"/>
              </a:ext>
            </a:extLst>
          </p:cNvPr>
          <p:cNvSpPr txBox="1"/>
          <p:nvPr/>
        </p:nvSpPr>
        <p:spPr>
          <a:xfrm>
            <a:off x="10473568" y="2185959"/>
            <a:ext cx="1511763" cy="9107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a content preference onboarding screen 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775B68-7877-14D2-C48E-DAB59983ED23}"/>
              </a:ext>
            </a:extLst>
          </p:cNvPr>
          <p:cNvSpPr txBox="1"/>
          <p:nvPr/>
        </p:nvSpPr>
        <p:spPr>
          <a:xfrm>
            <a:off x="7710163" y="633460"/>
            <a:ext cx="1511763" cy="6771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a 'Learning Goal' feature </a:t>
            </a:r>
            <a:endParaRPr lang="en-US"/>
          </a:p>
          <a:p>
            <a:pPr marL="0" indent="0" algn="l">
              <a:buNone/>
            </a:pPr>
            <a:endParaRPr lang="en-US" sz="120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E21C15-DF31-0CAB-5694-999E305BB326}"/>
              </a:ext>
            </a:extLst>
          </p:cNvPr>
          <p:cNvCxnSpPr/>
          <p:nvPr/>
        </p:nvCxnSpPr>
        <p:spPr>
          <a:xfrm flipV="1">
            <a:off x="6362531" y="3525906"/>
            <a:ext cx="1347632" cy="70716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0B5F948-DE35-3BEB-539B-22595D1DE20C}"/>
              </a:ext>
            </a:extLst>
          </p:cNvPr>
          <p:cNvSpPr txBox="1"/>
          <p:nvPr/>
        </p:nvSpPr>
        <p:spPr>
          <a:xfrm>
            <a:off x="5227457" y="2588907"/>
            <a:ext cx="2254668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filtered browse modes: 'Certification Paths,' 'Quick Skills,' and 'Thought Leadership' as distinct tabs within LinkedIn Learning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C86EED-05F8-FD80-CE99-8B2345BF8E15}"/>
              </a:ext>
            </a:extLst>
          </p:cNvPr>
          <p:cNvSpPr txBox="1"/>
          <p:nvPr/>
        </p:nvSpPr>
        <p:spPr>
          <a:xfrm>
            <a:off x="6992432" y="4392235"/>
            <a:ext cx="294722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skill-to-job-role mapper so users can type a target role and get a curated content list automatically</a:t>
            </a:r>
            <a:endParaRPr 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A10784-9527-57DB-1E90-AB3A6CECE89C}"/>
              </a:ext>
            </a:extLst>
          </p:cNvPr>
          <p:cNvSpPr txBox="1"/>
          <p:nvPr/>
        </p:nvSpPr>
        <p:spPr>
          <a:xfrm>
            <a:off x="10270662" y="3782534"/>
            <a:ext cx="1230264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per-course cost equivalent feature 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2ABE9A-77FD-8CC4-74AC-DCE530A28738}"/>
              </a:ext>
            </a:extLst>
          </p:cNvPr>
          <p:cNvSpPr txBox="1"/>
          <p:nvPr/>
        </p:nvSpPr>
        <p:spPr>
          <a:xfrm>
            <a:off x="9478911" y="994925"/>
            <a:ext cx="2256503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employer/recruiter search data: 'X recruiters searched for [your skill] this month' to justify Premium cost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59542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A6CB248-E510-5A0B-A749-36CA4F01733C}"/>
              </a:ext>
            </a:extLst>
          </p:cNvPr>
          <p:cNvCxnSpPr/>
          <p:nvPr/>
        </p:nvCxnSpPr>
        <p:spPr>
          <a:xfrm>
            <a:off x="4744065" y="1764890"/>
            <a:ext cx="0" cy="38640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EF58E5-5FBB-16BA-2E2A-ABA91FDECA8D}"/>
              </a:ext>
            </a:extLst>
          </p:cNvPr>
          <p:cNvCxnSpPr>
            <a:cxnSpLocks/>
          </p:cNvCxnSpPr>
          <p:nvPr/>
        </p:nvCxnSpPr>
        <p:spPr>
          <a:xfrm>
            <a:off x="9566788" y="1106123"/>
            <a:ext cx="0" cy="4596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3C1107-D33A-953F-BC1A-DE7D88E165B3}"/>
              </a:ext>
            </a:extLst>
          </p:cNvPr>
          <p:cNvCxnSpPr>
            <a:cxnSpLocks/>
          </p:cNvCxnSpPr>
          <p:nvPr/>
        </p:nvCxnSpPr>
        <p:spPr>
          <a:xfrm>
            <a:off x="7123472" y="1106123"/>
            <a:ext cx="0" cy="4596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74F3772F-90C2-43F5-3FB5-18DF88528E8B}"/>
              </a:ext>
            </a:extLst>
          </p:cNvPr>
          <p:cNvSpPr/>
          <p:nvPr/>
        </p:nvSpPr>
        <p:spPr>
          <a:xfrm>
            <a:off x="1130710" y="1106123"/>
            <a:ext cx="4965290" cy="7374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THEME 1: Increasing LI Learning Awareness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FC94A0-356E-A39D-6FE1-52B898514867}"/>
              </a:ext>
            </a:extLst>
          </p:cNvPr>
          <p:cNvCxnSpPr/>
          <p:nvPr/>
        </p:nvCxnSpPr>
        <p:spPr>
          <a:xfrm>
            <a:off x="1071716" y="5919019"/>
            <a:ext cx="937997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4F21310C-2724-4660-00AA-1A89E71F6ACC}"/>
              </a:ext>
            </a:extLst>
          </p:cNvPr>
          <p:cNvSpPr/>
          <p:nvPr/>
        </p:nvSpPr>
        <p:spPr>
          <a:xfrm>
            <a:off x="1179871" y="6174658"/>
            <a:ext cx="1297858" cy="46211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Q1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CD0BCD35-8EC1-0DC4-C901-08F5E3119EC1}"/>
              </a:ext>
            </a:extLst>
          </p:cNvPr>
          <p:cNvSpPr/>
          <p:nvPr/>
        </p:nvSpPr>
        <p:spPr>
          <a:xfrm>
            <a:off x="3374923" y="6174656"/>
            <a:ext cx="1297858" cy="46211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Q2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F9E90AD0-8BB0-E338-8213-E8931767539A}"/>
              </a:ext>
            </a:extLst>
          </p:cNvPr>
          <p:cNvSpPr/>
          <p:nvPr/>
        </p:nvSpPr>
        <p:spPr>
          <a:xfrm>
            <a:off x="5569975" y="6174657"/>
            <a:ext cx="1297858" cy="46211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Q3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0E4C0FCD-B6E7-E820-821B-7E5DA77EF8FE}"/>
              </a:ext>
            </a:extLst>
          </p:cNvPr>
          <p:cNvSpPr/>
          <p:nvPr/>
        </p:nvSpPr>
        <p:spPr>
          <a:xfrm>
            <a:off x="7765027" y="6174655"/>
            <a:ext cx="1297858" cy="46211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Q4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82C84E-2DD9-9E51-ECF4-0B465B6C02E5}"/>
              </a:ext>
            </a:extLst>
          </p:cNvPr>
          <p:cNvCxnSpPr/>
          <p:nvPr/>
        </p:nvCxnSpPr>
        <p:spPr>
          <a:xfrm>
            <a:off x="2576052" y="1838632"/>
            <a:ext cx="0" cy="38640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F655961A-1116-B0A0-5C05-833E941020B7}"/>
              </a:ext>
            </a:extLst>
          </p:cNvPr>
          <p:cNvSpPr/>
          <p:nvPr/>
        </p:nvSpPr>
        <p:spPr>
          <a:xfrm>
            <a:off x="3984521" y="2300749"/>
            <a:ext cx="4284403" cy="1435506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THEME 2: Customer Engagement of LI Learning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D758B15B-9C00-0E71-EA22-02C2F0870AA4}"/>
              </a:ext>
            </a:extLst>
          </p:cNvPr>
          <p:cNvSpPr/>
          <p:nvPr/>
        </p:nvSpPr>
        <p:spPr>
          <a:xfrm>
            <a:off x="5569974" y="4301619"/>
            <a:ext cx="4422059" cy="7374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THEME 3: Enhanced Algorithm for Relevant Feed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742363-CBA2-E93D-901B-791E792E0759}"/>
              </a:ext>
            </a:extLst>
          </p:cNvPr>
          <p:cNvSpPr/>
          <p:nvPr/>
        </p:nvSpPr>
        <p:spPr>
          <a:xfrm>
            <a:off x="3773128" y="356416"/>
            <a:ext cx="3593692" cy="521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 1 Roadmap</a:t>
            </a:r>
          </a:p>
        </p:txBody>
      </p:sp>
    </p:spTree>
    <p:extLst>
      <p:ext uri="{BB962C8B-B14F-4D97-AF65-F5344CB8AC3E}">
        <p14:creationId xmlns:p14="http://schemas.microsoft.com/office/powerpoint/2010/main" val="9242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AAD2-A222-4A08-DE82-FAC618D7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01FE8D-55AA-37DE-0472-764DB0DD1DC6}"/>
              </a:ext>
            </a:extLst>
          </p:cNvPr>
          <p:cNvCxnSpPr/>
          <p:nvPr/>
        </p:nvCxnSpPr>
        <p:spPr>
          <a:xfrm>
            <a:off x="4731774" y="2064774"/>
            <a:ext cx="0" cy="38640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3A0909-9681-2B4B-FC8A-77BEDAC2AC7F}"/>
              </a:ext>
            </a:extLst>
          </p:cNvPr>
          <p:cNvCxnSpPr>
            <a:cxnSpLocks/>
          </p:cNvCxnSpPr>
          <p:nvPr/>
        </p:nvCxnSpPr>
        <p:spPr>
          <a:xfrm>
            <a:off x="9596285" y="1332265"/>
            <a:ext cx="0" cy="4596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76999F-8D58-E2E9-948F-DB3CF0152F07}"/>
              </a:ext>
            </a:extLst>
          </p:cNvPr>
          <p:cNvCxnSpPr>
            <a:cxnSpLocks/>
          </p:cNvCxnSpPr>
          <p:nvPr/>
        </p:nvCxnSpPr>
        <p:spPr>
          <a:xfrm>
            <a:off x="7133304" y="1332265"/>
            <a:ext cx="0" cy="4596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26A9919E-67C9-8BB8-CB88-BC1BF7F027B3}"/>
              </a:ext>
            </a:extLst>
          </p:cNvPr>
          <p:cNvSpPr/>
          <p:nvPr/>
        </p:nvSpPr>
        <p:spPr>
          <a:xfrm>
            <a:off x="1130710" y="108159"/>
            <a:ext cx="4965290" cy="173538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THEME 1: Increasing LI Learning Awareness</a:t>
            </a:r>
          </a:p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cost comparison page</a:t>
            </a:r>
          </a:p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 vs. Coursera) side-by-side dashboard</a:t>
            </a:r>
          </a:p>
          <a:p>
            <a:pPr algn="ctr"/>
            <a:r>
              <a:rPr lang="en-US" sz="1200" dirty="0"/>
              <a:t>Show dynamic cost calculator</a:t>
            </a:r>
          </a:p>
          <a:p>
            <a:pPr algn="ctr"/>
            <a:r>
              <a:rPr lang="en-US" sz="1200" dirty="0"/>
              <a:t>Pro/Con List for competitors</a:t>
            </a:r>
          </a:p>
          <a:p>
            <a:pPr algn="ctr"/>
            <a:r>
              <a:rPr lang="en-US" sz="1200" dirty="0"/>
              <a:t>Skill confidence tracker</a:t>
            </a:r>
          </a:p>
          <a:p>
            <a:pPr algn="ctr"/>
            <a:r>
              <a:rPr lang="en-US" sz="1200" dirty="0"/>
              <a:t>Which plan is right for you – quiz</a:t>
            </a:r>
            <a:endParaRPr lang="en-US" dirty="0"/>
          </a:p>
          <a:p>
            <a:pPr algn="ctr"/>
            <a:r>
              <a:rPr lang="en-US" sz="1050" dirty="0"/>
              <a:t>Create “learning streak”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4497F3-ACF5-9750-F8C4-B2C8423A98FC}"/>
              </a:ext>
            </a:extLst>
          </p:cNvPr>
          <p:cNvCxnSpPr/>
          <p:nvPr/>
        </p:nvCxnSpPr>
        <p:spPr>
          <a:xfrm>
            <a:off x="1130709" y="6022270"/>
            <a:ext cx="937997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E4F17F4-2B88-F6FE-5835-1F5A936E51F3}"/>
              </a:ext>
            </a:extLst>
          </p:cNvPr>
          <p:cNvSpPr/>
          <p:nvPr/>
        </p:nvSpPr>
        <p:spPr>
          <a:xfrm>
            <a:off x="1238864" y="6277909"/>
            <a:ext cx="1297858" cy="46211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Q1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8B56C854-0B58-48A7-EEE1-A0DBEA217DD6}"/>
              </a:ext>
            </a:extLst>
          </p:cNvPr>
          <p:cNvSpPr/>
          <p:nvPr/>
        </p:nvSpPr>
        <p:spPr>
          <a:xfrm>
            <a:off x="3433916" y="6277907"/>
            <a:ext cx="1297858" cy="46211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Q2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41C0FF1E-5DD0-C364-F7B7-F050D321DC4A}"/>
              </a:ext>
            </a:extLst>
          </p:cNvPr>
          <p:cNvSpPr/>
          <p:nvPr/>
        </p:nvSpPr>
        <p:spPr>
          <a:xfrm>
            <a:off x="5628968" y="6277908"/>
            <a:ext cx="1297858" cy="46211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Q3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F6BF4C0B-B8D0-38E9-E852-2B3F1E205296}"/>
              </a:ext>
            </a:extLst>
          </p:cNvPr>
          <p:cNvSpPr/>
          <p:nvPr/>
        </p:nvSpPr>
        <p:spPr>
          <a:xfrm>
            <a:off x="7824020" y="6277906"/>
            <a:ext cx="1297858" cy="46211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Q4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8ABE68-4AD3-8C61-EEFA-A409DE24863C}"/>
              </a:ext>
            </a:extLst>
          </p:cNvPr>
          <p:cNvCxnSpPr/>
          <p:nvPr/>
        </p:nvCxnSpPr>
        <p:spPr>
          <a:xfrm>
            <a:off x="2635046" y="2064774"/>
            <a:ext cx="0" cy="38640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23C858A-2BC1-9254-08F2-AB53F884A0DB}"/>
              </a:ext>
            </a:extLst>
          </p:cNvPr>
          <p:cNvSpPr/>
          <p:nvPr/>
        </p:nvSpPr>
        <p:spPr>
          <a:xfrm>
            <a:off x="3433917" y="1986118"/>
            <a:ext cx="5110312" cy="197136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THEME 2: Customer Engagement of LI Learning</a:t>
            </a:r>
          </a:p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personalized recommendation engine for courses</a:t>
            </a:r>
          </a:p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insights for each learning platform in market</a:t>
            </a:r>
          </a:p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 feature</a:t>
            </a:r>
          </a:p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to job role mapper between your “skills” and jobs you apply to</a:t>
            </a:r>
          </a:p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“banner” for free users that shows the courses they cannot access</a:t>
            </a:r>
          </a:p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skills in LI learning to job postings </a:t>
            </a:r>
          </a:p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peer validation (reviews) </a:t>
            </a:r>
          </a:p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content preference onboarding screen</a:t>
            </a:r>
          </a:p>
          <a:p>
            <a:pPr algn="ctr"/>
            <a:r>
              <a:rPr lang="en-US" sz="1600" dirty="0"/>
              <a:t>“certification paths” or “quick skills” tabs in LI Learning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104DB62B-0971-DE41-E4A0-D90D36253B71}"/>
              </a:ext>
            </a:extLst>
          </p:cNvPr>
          <p:cNvSpPr/>
          <p:nvPr/>
        </p:nvSpPr>
        <p:spPr>
          <a:xfrm>
            <a:off x="6646605" y="4178715"/>
            <a:ext cx="4316360" cy="125852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THEME 3: Enhanced Algorithm for Relevant Feed</a:t>
            </a:r>
            <a:br>
              <a:rPr lang="en-US" dirty="0"/>
            </a:br>
            <a:r>
              <a:rPr lang="en-US" sz="1200" dirty="0"/>
              <a:t>display employers search criteria – match with skills </a:t>
            </a:r>
          </a:p>
          <a:p>
            <a:pPr algn="ctr"/>
            <a:r>
              <a:rPr lang="en-US" sz="1200" dirty="0"/>
              <a:t>Add a per course cost equivalent feature </a:t>
            </a:r>
          </a:p>
          <a:p>
            <a:pPr algn="ctr"/>
            <a:r>
              <a:rPr lang="en-US" sz="1200" dirty="0"/>
              <a:t>Build portfolio style “skills Gained” section of profile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109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420</Words>
  <Application>Microsoft Office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Impact vs. Effort Map and Roadmap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LC Dy</dc:creator>
  <cp:lastModifiedBy>LC Dy</cp:lastModifiedBy>
  <cp:revision>3</cp:revision>
  <dcterms:created xsi:type="dcterms:W3CDTF">2026-04-06T21:35:45Z</dcterms:created>
  <dcterms:modified xsi:type="dcterms:W3CDTF">2026-04-10T03:54:37Z</dcterms:modified>
</cp:coreProperties>
</file>